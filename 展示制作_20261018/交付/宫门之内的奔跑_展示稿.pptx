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Default Extension="mp4" ContentType="video/mp4"/>
  <Default Extension="m4a" ContentType="audio/mp4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94f943e3574777" /><Relationship Type="http://schemas.openxmlformats.org/officeDocument/2006/relationships/extended-properties" Target="/docProps/app.xml" Id="R3b5544b020ee4730" /><Relationship Type="http://schemas.openxmlformats.org/officeDocument/2006/relationships/officeDocument" Target="/ppt/presentation.xml" Id="R541d42a441254c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e7d1f75ddc74091"/>
  </p:sldMasterIdLst>
  <p:notesMasterIdLst>
    <p:notesMasterId xmlns:r="http://schemas.openxmlformats.org/officeDocument/2006/relationships" r:id="Rd9b5c46f47d943d7"/>
  </p:notesMasterIdLst>
  <p:sldIdLst>
    <p:sldId xmlns:r="http://schemas.openxmlformats.org/officeDocument/2006/relationships" id="256" r:id="R403cd771827447d5"/>
    <p:sldId xmlns:r="http://schemas.openxmlformats.org/officeDocument/2006/relationships" id="257" r:id="R7af574903ea74518"/>
    <p:sldId xmlns:r="http://schemas.openxmlformats.org/officeDocument/2006/relationships" id="258" r:id="Rb08cf9d540274906"/>
    <p:sldId xmlns:r="http://schemas.openxmlformats.org/officeDocument/2006/relationships" id="259" r:id="R84d51e4b4a624329"/>
    <p:sldId xmlns:r="http://schemas.openxmlformats.org/officeDocument/2006/relationships" id="260" r:id="R60a46e19c9024bac"/>
    <p:sldId xmlns:r="http://schemas.openxmlformats.org/officeDocument/2006/relationships" id="261" r:id="Re789688fc7a3467a"/>
    <p:sldId xmlns:r="http://schemas.openxmlformats.org/officeDocument/2006/relationships" id="262" r:id="R1cfeb14e9645452c"/>
    <p:sldId xmlns:r="http://schemas.openxmlformats.org/officeDocument/2006/relationships" id="263" r:id="R0e3d38e7a10e4187"/>
    <p:sldId xmlns:r="http://schemas.openxmlformats.org/officeDocument/2006/relationships" id="264" r:id="R0f4935972fff47d6"/>
    <p:sldId xmlns:r="http://schemas.openxmlformats.org/officeDocument/2006/relationships" id="265" r:id="Ra918764321854b45"/>
    <p:sldId xmlns:r="http://schemas.openxmlformats.org/officeDocument/2006/relationships" id="266" r:id="Rf4c2cbe7ea004f48"/>
    <p:sldId xmlns:r="http://schemas.openxmlformats.org/officeDocument/2006/relationships" id="267" r:id="R63a1dba992b64887"/>
    <p:sldId xmlns:r="http://schemas.openxmlformats.org/officeDocument/2006/relationships" id="268" r:id="R75a6e746de494929"/>
    <p:sldId xmlns:r="http://schemas.openxmlformats.org/officeDocument/2006/relationships" id="269" r:id="R9baa640129234584"/>
    <p:sldId xmlns:r="http://schemas.openxmlformats.org/officeDocument/2006/relationships" id="270" r:id="R878f685f499c448f"/>
    <p:sldId xmlns:r="http://schemas.openxmlformats.org/officeDocument/2006/relationships" id="271" r:id="R8297bd91c6264765"/>
    <p:sldId xmlns:r="http://schemas.openxmlformats.org/officeDocument/2006/relationships" id="272" r:id="Rc510d949da684911"/>
    <p:sldId xmlns:r="http://schemas.openxmlformats.org/officeDocument/2006/relationships" id="273" r:id="R9ed60eedcf9d4cad"/>
    <p:sldId xmlns:r="http://schemas.openxmlformats.org/officeDocument/2006/relationships" id="274" r:id="R91892f68acef49e7"/>
    <p:sldId xmlns:r="http://schemas.openxmlformats.org/officeDocument/2006/relationships" id="275" r:id="R9d934267b24d4e5c"/>
    <p:sldId xmlns:r="http://schemas.openxmlformats.org/officeDocument/2006/relationships" id="276" r:id="R0092bff0b59c4955"/>
    <p:sldId xmlns:r="http://schemas.openxmlformats.org/officeDocument/2006/relationships" id="277" r:id="R231b2fd5ed874927"/>
    <p:sldId xmlns:r="http://schemas.openxmlformats.org/officeDocument/2006/relationships" id="278" r:id="Raa3a76f2ab764f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a32c5051684132" /><Relationship Type="http://schemas.openxmlformats.org/officeDocument/2006/relationships/slideMaster" Target="/ppt/slideMasters/slideMaster1.xml" Id="Ree7d1f75ddc74091" /><Relationship Type="http://schemas.openxmlformats.org/officeDocument/2006/relationships/notesMaster" Target="/ppt/notesMasters/notesMaster1.xml" Id="Rd9b5c46f47d943d7" /><Relationship Type="http://schemas.openxmlformats.org/officeDocument/2006/relationships/presProps" Target="/ppt/presProps.xml" Id="Rae31bf8b3ecc4e2a" /><Relationship Type="http://schemas.openxmlformats.org/officeDocument/2006/relationships/tableStyles" Target="/ppt/tableStyles.xml" Id="Rd974da689cd149ae" /><Relationship Type="http://schemas.openxmlformats.org/officeDocument/2006/relationships/slide" Target="/ppt/slides/slide1.xml" Id="R403cd771827447d5" /><Relationship Type="http://schemas.openxmlformats.org/officeDocument/2006/relationships/slide" Target="/ppt/slides/slide2.xml" Id="R7af574903ea74518" /><Relationship Type="http://schemas.openxmlformats.org/officeDocument/2006/relationships/slide" Target="/ppt/slides/slide3.xml" Id="Rb08cf9d540274906" /><Relationship Type="http://schemas.openxmlformats.org/officeDocument/2006/relationships/slide" Target="/ppt/slides/slide4.xml" Id="R84d51e4b4a624329" /><Relationship Type="http://schemas.openxmlformats.org/officeDocument/2006/relationships/slide" Target="/ppt/slides/slide5.xml" Id="R60a46e19c9024bac" /><Relationship Type="http://schemas.openxmlformats.org/officeDocument/2006/relationships/slide" Target="/ppt/slides/slide6.xml" Id="Re789688fc7a3467a" /><Relationship Type="http://schemas.openxmlformats.org/officeDocument/2006/relationships/slide" Target="/ppt/slides/slide7.xml" Id="R1cfeb14e9645452c" /><Relationship Type="http://schemas.openxmlformats.org/officeDocument/2006/relationships/slide" Target="/ppt/slides/slide8.xml" Id="R0e3d38e7a10e4187" /><Relationship Type="http://schemas.openxmlformats.org/officeDocument/2006/relationships/slide" Target="/ppt/slides/slide9.xml" Id="R0f4935972fff47d6" /><Relationship Type="http://schemas.openxmlformats.org/officeDocument/2006/relationships/slide" Target="/ppt/slides/slide10.xml" Id="Ra918764321854b45" /><Relationship Type="http://schemas.openxmlformats.org/officeDocument/2006/relationships/slide" Target="/ppt/slides/slide11.xml" Id="Rf4c2cbe7ea004f48" /><Relationship Type="http://schemas.openxmlformats.org/officeDocument/2006/relationships/slide" Target="/ppt/slides/slide12.xml" Id="R63a1dba992b64887" /><Relationship Type="http://schemas.openxmlformats.org/officeDocument/2006/relationships/slide" Target="/ppt/slides/slide13.xml" Id="R75a6e746de494929" /><Relationship Type="http://schemas.openxmlformats.org/officeDocument/2006/relationships/slide" Target="/ppt/slides/slide14.xml" Id="R9baa640129234584" /><Relationship Type="http://schemas.openxmlformats.org/officeDocument/2006/relationships/slide" Target="/ppt/slides/slide15.xml" Id="R878f685f499c448f" /><Relationship Type="http://schemas.openxmlformats.org/officeDocument/2006/relationships/slide" Target="/ppt/slides/slide16.xml" Id="R8297bd91c6264765" /><Relationship Type="http://schemas.openxmlformats.org/officeDocument/2006/relationships/slide" Target="/ppt/slides/slide17.xml" Id="Rc510d949da684911" /><Relationship Type="http://schemas.openxmlformats.org/officeDocument/2006/relationships/slide" Target="/ppt/slides/slide18.xml" Id="R9ed60eedcf9d4cad" /><Relationship Type="http://schemas.openxmlformats.org/officeDocument/2006/relationships/slide" Target="/ppt/slides/slide19.xml" Id="R91892f68acef49e7" /><Relationship Type="http://schemas.openxmlformats.org/officeDocument/2006/relationships/slide" Target="/ppt/slides/slide20.xml" Id="R9d934267b24d4e5c" /><Relationship Type="http://schemas.openxmlformats.org/officeDocument/2006/relationships/slide" Target="/ppt/slides/slide21.xml" Id="R0092bff0b59c4955" /><Relationship Type="http://schemas.openxmlformats.org/officeDocument/2006/relationships/slide" Target="/ppt/slides/slide22.xml" Id="R231b2fd5ed874927" /><Relationship Type="http://schemas.openxmlformats.org/officeDocument/2006/relationships/slide" Target="/ppt/slides/slide23.xml" Id="Raa3a76f2ab764f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ef0fce818d49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68763f1cef4793" /><Relationship Type="http://schemas.openxmlformats.org/officeDocument/2006/relationships/notesMaster" Target="/ppt/notesMasters/notesMaster1.xml" Id="Rddd497bba1b64c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a16b4ae6a54697" /><Relationship Type="http://schemas.openxmlformats.org/officeDocument/2006/relationships/notesMaster" Target="/ppt/notesMasters/notesMaster1.xml" Id="R2f0c80b8401b46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2072c22bef410c" /><Relationship Type="http://schemas.openxmlformats.org/officeDocument/2006/relationships/notesMaster" Target="/ppt/notesMasters/notesMaster1.xml" Id="R189e4b0c5a944b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991ddaca214b99" /><Relationship Type="http://schemas.openxmlformats.org/officeDocument/2006/relationships/notesMaster" Target="/ppt/notesMasters/notesMaster1.xml" Id="R15d7a7a46c4746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2b53bf06ec40b9" /><Relationship Type="http://schemas.openxmlformats.org/officeDocument/2006/relationships/notesMaster" Target="/ppt/notesMasters/notesMaster1.xml" Id="R0e0229badbdc4d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ed188f07094073" /><Relationship Type="http://schemas.openxmlformats.org/officeDocument/2006/relationships/notesMaster" Target="/ppt/notesMasters/notesMaster1.xml" Id="R3467ce21d46646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67aea096b54e9b" /><Relationship Type="http://schemas.openxmlformats.org/officeDocument/2006/relationships/notesMaster" Target="/ppt/notesMasters/notesMaster1.xml" Id="R8ecd16c3e3eb45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3220b4e1b54c3a" /><Relationship Type="http://schemas.openxmlformats.org/officeDocument/2006/relationships/notesMaster" Target="/ppt/notesMasters/notesMaster1.xml" Id="R0d1ac676fb0e4c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dd55dae3cb4425" /><Relationship Type="http://schemas.openxmlformats.org/officeDocument/2006/relationships/notesMaster" Target="/ppt/notesMasters/notesMaster1.xml" Id="R27f5ce9477124c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ca41c95c204845" /><Relationship Type="http://schemas.openxmlformats.org/officeDocument/2006/relationships/notesMaster" Target="/ppt/notesMasters/notesMaster1.xml" Id="R76e8a7dfe53142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ca9a19ebc84fb4" /><Relationship Type="http://schemas.openxmlformats.org/officeDocument/2006/relationships/notesMaster" Target="/ppt/notesMasters/notesMaster1.xml" Id="Rbd21fc6e24ce4d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fe47eeec254068" /><Relationship Type="http://schemas.openxmlformats.org/officeDocument/2006/relationships/notesMaster" Target="/ppt/notesMasters/notesMaster1.xml" Id="Rb56a950e80ce4b6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3c0fd60fe5d4409" /><Relationship Type="http://schemas.openxmlformats.org/officeDocument/2006/relationships/notesMaster" Target="/ppt/notesMasters/notesMaster1.xml" Id="Rbb3b3667b3ac4c7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8b6cbb27bd54dfc" /><Relationship Type="http://schemas.openxmlformats.org/officeDocument/2006/relationships/notesMaster" Target="/ppt/notesMasters/notesMaster1.xml" Id="Ra9b6665a685745d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1632c0d71fa4dfe" /><Relationship Type="http://schemas.openxmlformats.org/officeDocument/2006/relationships/notesMaster" Target="/ppt/notesMasters/notesMaster1.xml" Id="Rb999582e983f489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ee1a6b171144309" /><Relationship Type="http://schemas.openxmlformats.org/officeDocument/2006/relationships/notesMaster" Target="/ppt/notesMasters/notesMaster1.xml" Id="R015eb22c8303470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64b5e254ac14291" /><Relationship Type="http://schemas.openxmlformats.org/officeDocument/2006/relationships/notesMaster" Target="/ppt/notesMasters/notesMaster1.xml" Id="R4fb55296b2ec4f0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e9d0687836c4180" /><Relationship Type="http://schemas.openxmlformats.org/officeDocument/2006/relationships/notesMaster" Target="/ppt/notesMasters/notesMaster1.xml" Id="R74cf3f117d08423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4d5ce6c5ca64776" /><Relationship Type="http://schemas.openxmlformats.org/officeDocument/2006/relationships/notesMaster" Target="/ppt/notesMasters/notesMaster1.xml" Id="R3326dfb91f9c4bf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23f4768fb974400" /><Relationship Type="http://schemas.openxmlformats.org/officeDocument/2006/relationships/notesMaster" Target="/ppt/notesMasters/notesMaster1.xml" Id="Rf15b0c0d4e4b4c2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44b1043ad194d30" /><Relationship Type="http://schemas.openxmlformats.org/officeDocument/2006/relationships/notesMaster" Target="/ppt/notesMasters/notesMaster1.xml" Id="R73b58f3ce29c4dc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147adde3bf04650" /><Relationship Type="http://schemas.openxmlformats.org/officeDocument/2006/relationships/notesMaster" Target="/ppt/notesMasters/notesMaster1.xml" Id="R3d5e881e2acf477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1d0f7ce841d4ce5" /><Relationship Type="http://schemas.openxmlformats.org/officeDocument/2006/relationships/notesMaster" Target="/ppt/notesMasters/notesMaster1.xml" Id="R572b0e466ae743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讲者：A。本页含媒体/互动预算约0.5分钟。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从一个反复出现的动作开始：奔跑。溥仪是皇帝，却常常不能决定自己去哪里、与谁在一起。我们比较几段移动、离开与受阻的场景，看看画面如何安排人物的位置，声音又怎样改变我们与人物的距离。这里讨论的是电影塑造人物的方法，历史事件只作必要背景。先请大家听一小段片头音乐，暂时不用猜乐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原片静帧：02205_追阿嬷远景.jpg；本地资源D:/__Netdisk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播放35秒片头音乐。请大家先说听到的具体变化：节奏是否连续，旋律声部何时更突出，声音是密集还是疏朗。等待两位同学回答，共约40秒。有人联想到宫殿、仪式或中国，我们继续问：这种联想来自音色、旋律，还是来自已经知道片名？Main Title Theme的作者是David Byrne。稍后再区分文化联想与历史音乐。这里不设唯一情绪答案，也不将猜中乐器作为互动目标。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原片静帧：00035_片头题字.jpg；本地资源D:/__Netdisk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Apple Music, Main Title Theme, David Byrne. https://music.apple.com/us/song/714659406</a:t>
            </a:r>
          </a:p>
          <a:p xmlns:a="http://schemas.openxmlformats.org/drawingml/2006/main">
            <a:r>
              <a:t>Jonathan Broxton (2017-11-30), The Last Emperor. https://moviemusicuk.us/2017/11/30/the-last-emperor-ryuichi-sakamoto-david-byrne-and-cong-su/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讲者：A。本页含媒体/互动预算约1.5分钟。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用这条线帮助没有看过电影的同学定位。影片并非从童年顺序讲到晚年，而是从1950年的囚犯处境进入回忆。童年的皇帝身份给他特殊待遇，也使他与外界隔绝。离开宫殿并不使控制关系自动消失，他后来选择依靠日本势力谋求皇位。战后被囚，最终作为普通人重访故宫。下面每个片段只补充理解当下动作所需的剧情，不重复讲完整传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原片静帧：04844_紫禁城离开.jpg；本地资源D:/__Netdisk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Criterion, The Last Emperor film and edition information. https://www.criterion.com/films/254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讲者：A。本页含媒体/互动预算约1.5分钟。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影片原创配乐的获奖署名有三位，不能把全部音乐归到坂本龙一名下。坂本的YMO经历使电子音乐背景值得介绍，但只需用一句话，没必要把展示变成个人生平。他在访谈中回忆先以演员身份参与，之后才受邀写音乐，并在东京找中国音乐家录音。这说明真实演奏与现代制作可以并存。苏聪和Byrne也有各自贡献，具体段落不能只凭作曲者国籍推断。奖项是1988年颁给1987年影片的，不必用奖项代替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  <a:p xmlns:a="http://schemas.openxmlformats.org/drawingml/2006/main">
            <a:r>
              <a:t>Diva Vélez (2016-07-31), Japan Cuts 2016 Interview. https://screenanarchy.com/2016/07/japan-cuts-2016-interview-nagasaki-memories-of-my-son-composer-sakamoto-ryuichi-on-oshima-and-bertol.html</a:t>
            </a:r>
          </a:p>
          <a:p xmlns:a="http://schemas.openxmlformats.org/drawingml/2006/main">
            <a:r>
              <a:t>Academy of Motion Picture Arts and Sciences, 1988 ceremony. https://www.oscars.org/oscars/ceremonies/1988/B</a:t>
            </a:r>
          </a:p>
          <a:p xmlns:a="http://schemas.openxmlformats.org/drawingml/2006/main">
            <a:r>
              <a:t>Jonathan Broxton (2017-11-30), The Last Emperor. https://moviemusicuk.us/2017/11/30/the-last-emperor-ryuichi-sakamoto-david-byrne-and-cong-su/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讲者：A。本页含媒体/互动预算约1.5分钟。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谓故宫音色，在这里先当作一个需要解释的听众联想。我们可以描述弓弦的滑动、拨弦的颗粒、打击的起音与持续的背景，但未核实就不要给每个声部贴上乐器名。真实二胡和具有近似音色的弦乐、采样或合成音，在成品混音里不一定容易区分。更重要的是，同一声音配上宫门、红墙和皇帝服饰后，我们可能更容易把它听成中国宫廷。电影配乐营造特定世界，不等于清代宫廷音乐的历史复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  <a:p xmlns:a="http://schemas.openxmlformats.org/drawingml/2006/main">
            <a:r>
              <a:t>Jonathan Broxton (2017-11-30), The Last Emperor. https://moviemusicuk.us/2017/11/30/the-last-emperor-ryuichi-sakamoto-david-byrne-and-cong-su/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讲者：A。本页含媒体/互动预算约1.7分钟。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三幅画面不是同一个机位的严格复现，因此只比较空间关系，不说镜头完全相同。第一幅宫门前有队伍、牲畜和礼制秩序，第二幅汽车、自行车与宫门同框，第三幅人物独自走向殿宇。建筑相对稳定，进入其中的人及其身份不断改变。所谓宏大，首先可以由建筑尺度、轴线和人物比例说明。孤寂则还需要动作、叙事和声音支持，不能看到大宫殿就直接得出孤独的结论。可按需要播放媒体03或06补充移动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原片静帧：00554_紫禁城初见.jpg；本地资源D:/__Netdisk Download/The Last Emperor，HDR转SDR展示截图。</a:t>
            </a:r>
          </a:p>
          <a:p xmlns:a="http://schemas.openxmlformats.org/drawingml/2006/main">
            <a:r>
              <a:t>原片静帧：02484_庄士敦到来.jpg；本地资源D:/__Netdisk Download/The Last Emperor，HDR转SDR展示截图。</a:t>
            </a:r>
          </a:p>
          <a:p xmlns:a="http://schemas.openxmlformats.org/drawingml/2006/main">
            <a:r>
              <a:t>原片静帧：09338_重访背影.jpg；本地资源D:/__Netdisk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David Thomson (2009-01-06), The Last Emperor, or The Manchurian Candidate. https://www.criterion.com/current/posts/556-the-last-emperor-or-the-manchurian-candidate</a:t>
            </a:r>
          </a:p>
          <a:p xmlns:a="http://schemas.openxmlformats.org/drawingml/2006/main">
            <a:r>
              <a:t>Vittorio Storaro (2017-12-07), Lisbon masterclass, PDF pp.10-11. https://www.academiadecinema.pt/wp-content/uploads/2018/04/MASTERCLASS-VITTORIO-STORARO-English_text.pdf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画面本身。孩子和随从在巨大的庭院中移动，镜头让我们看到个人动作与制度空间的比例。即使人物穿着最显眼的服饰，他仍只占画面很小的一部分。我们可以把这作为人物受到环境组织的视觉证据，但不能只凭远景证明人物在想什么。声音可能让我们更靠近他的兴奋或焦急，也可能让建筑和距离更突出。接下来用追阿嬷的完整片段比较，而不是孤立解释这张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原片静帧：01640_童年奔跑全景.jpg；本地资源D:/__Netdisk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讲者：A。本页含媒体/互动预算约3.1分钟。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交代一句背景：乳母被送离，孩子试图追上她。播放90秒，保留追逐前的对话和切回成年囚犯的部分。请大家观察镜头距离的变化，同时听音乐、人声和环境声各占怎样的位置。播放后问：最让你感觉追不上的是奔跑本身、人物变小，还是声音的变化？等待约20秒。这里可以提出我们的解释：人物越努力移动，远景越让距离显现。但若要指出音乐在哪一秒消失，必须在实际播放时确认，不能把书签当起点。原声Where Is Armo是核对线索，不用专辑曲名替代原片听辨。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原片静帧：02185_追阿嬷奔跑.jpg；本地资源D:/__Netdisk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Diana (2019-08-23), 《末代皇帝》有哪些亮点和记忆点？ https://movie.douban.com/review/10433522/</a:t>
            </a:r>
          </a:p>
          <a:p xmlns:a="http://schemas.openxmlformats.org/drawingml/2006/main">
            <a:r>
              <a:t>coeurpourtoi (2018-10-27), 奔跑. SEARCH EXCERPT ONLY. https://movie.douban.com/review/9727812/</a:t>
            </a:r>
          </a:p>
          <a:p xmlns:a="http://schemas.openxmlformats.org/drawingml/2006/main">
            <a:r>
              <a:t>Jonathan Broxton (2017-11-30), The Last Emperor. https://moviemusicuk.us/2017/11/30/the-last-emperor-ryuichi-sakamoto-david-byrne-and-cong-su/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讲者：A。本页含媒体/互动预算约2.8分钟。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播放70秒。此时婉容被送走，成年溥仪追出，最终仍要求别人开门。与童年片段可比的是追逐对象的离开、他的追随与受阻，不是因为两段一定用了同一音乐。请大家比较声音是否同样组织时间：哪里让动作连贯，哪里让等待和停顿变得突出？这两个场景相隔很远，但类似动作使人物处境产生呼应。与此同时，成年溥仪的政治和私人选择也参与形成处境，不能把两段相似简化成他从来都没有任何选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原片静帧：08218_追婉容门.jpg；本地资源D:/__Netdisk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Diana (2019-08-23), 《末代皇帝》有哪些亮点和记忆点？ https://movie.douban.com/review/10433522/</a:t>
            </a:r>
          </a:p>
          <a:p xmlns:a="http://schemas.openxmlformats.org/drawingml/2006/main">
            <a:r>
              <a:t>James Berardinelli, Last Emperor, The. https://www.reelviews.net/reelviews/last-emperor-the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讲者：B。本页含媒体/互动预算约2.8分钟。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播放65秒，先交代她提出离婚。注意她拒绝伞的动作与字幕，再听雨声、音乐和动作的关系。这里是前面解释的检验：如果所有奔跑和移动都只是被命运困住，这一段就无法解释。文绣走出去的结果与溥仪的受阻不同，音乐是否使离开带有释放感，请大家用刚听到的速度、力度和声部变化说明。Rain是有署名的原声曲目，坂本访谈也谈到过它，但专辑与影片剪辑可能有差异。不要因为曲名叫雨，就把雨声本身当成这首配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原片静帧：05860_雨.jpg；本地资源D:/__Netdisk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  <a:p xmlns:a="http://schemas.openxmlformats.org/drawingml/2006/main">
            <a:r>
              <a:t>谈谈末代皇帝为什么大获好评. SEARCH EXCERPT ONLY. https://movie.douban.com/review/12826936/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讲者：B。本页含媒体/互动预算约1.4分钟。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自行车既是现代生活的物件，也使人物在空间里的移动方式发生变化。Ebert特别注意到出宫受阻这一层反讽。这里不把评论直接当结论，请看宫门的位置、人物停留的位置，以及决定通行的是谁。若时间充裕，播放备选媒体07。问题不只是他能不能跑得更快，而是他有没有决定去向的能力。与文绣放在一起，移动速度和行动自主之间的差别就更清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原片静帧：01633_奔跑.jpg；本地资源D:/__Netdisk Download/The Last Emperor，HDR转SDR展示截图。</a:t>
            </a:r>
          </a:p>
          <a:p xmlns:a="http://schemas.openxmlformats.org/drawingml/2006/main">
            <a:r>
              <a:t>原片静帧：03205_自行车宫门.jpg；本地资源D:/__Netdisk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Roger Ebert (1987-12-09), The Last Emperor. https://www.rogerebert.com/reviews/the-last-emperor-1987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讲者：B。本页含媒体/互动预算约1.8分钟。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摄影师Storaro在大师课中把颜色联系到人生阶段，举过绿色汽车和自行车的例子。我们因此可以讨论绿色物件怎样把外界带进宫城，但不需要记一张所有颜色的象征对照表。还要注意颜色受服装、光线和发行版本影响，本次截图经过HDR到SDR转换，不能据此做精确色值分析。音乐色彩是比喻，画面颜色是可见特征。比较两者时，可以说疏密、张力或变化是否呼应，不能说绿色天然对应某种调式或乐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原片静帧：00399_回忆宫门.jpg；本地资源D:/__Netdisk Download/The Last Emperor，HDR转SDR展示截图。</a:t>
            </a:r>
          </a:p>
          <a:p xmlns:a="http://schemas.openxmlformats.org/drawingml/2006/main">
            <a:r>
              <a:t>原片静帧：03196_自行车.jpg；本地资源D:/__Netdisk Download/The Last Emperor，HDR转SDR展示截图。</a:t>
            </a:r>
          </a:p>
          <a:p xmlns:a="http://schemas.openxmlformats.org/drawingml/2006/main">
            <a:r>
              <a:t>原片静帧：04860_离宫全景.jpg；本地资源D:/__Netdisk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Vittorio Storaro (2017-12-07), Lisbon masterclass, PDF pp.10-11. https://www.academiadecinema.pt/wp-content/uploads/2018/04/MASTERCLASS-VITTORIO-STORARO-English_text.pdf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讲者：B。本页含媒体/互动预算约2.1分钟。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播放45秒。注意成人近景、浴室、红色与童年宫门之间的联系。先确定画面已经发生时间跳转，再问声音是跟着新画面改变，还是跨过剪辑延续。即使同一音乐跨了两个时代，也不构成物理不可能，因为电影叙述层的音乐本来就不必来自人物所处的现场。如果是故事内的声音跨过剪辑，也可以是声音桥或主观记忆，并非两处现实空间同时存在同一声源。此处是否属于哪一种，依据实际播放时可辨认的声源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原片静帧：00390_首次转场.jpg；本地资源D:/__Netdisk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Vittorio Storaro (2017-12-07), Lisbon masterclass, PDF pp.10-11. https://www.academiadecinema.pt/wp-content/uploads/2018/04/MASTERCLASS-VITTORIO-STORARO-English_text.pdf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讲者：B。本页含媒体/互动预算约1.7分钟。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三个不同问题。第一问音乐从哪里来，第二问声音如何跨剪辑，第三问配乐有没有出现。它们不能互相代替。人物看不见乐器，也不能立即断言无源，因为声源可能在画外。反过来，电影配乐即使有很强的地方特色，也不说明人物能听见。所谓静默也要说明是哪一层声音退下了。可以用备选媒体11检验枪声与转场，但当前材料没有完成逐声轨核验，讲述时不要提前写死枪声究竟来自上一场还是下一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讲者：B。本页含媒体/互动预算约2.2分钟。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播放原声Theme Variation 2的30秒与Theme的35秒。先请大家找相似或不同的材料，再说声音处理如何改变距离感、稳定感与张力。这是专辑内的比较，不能自动证明它们在影片中的出现顺序，也不能称为某一场景的精确配乐版本。Variation这个曲名是作者/专辑提供的关联线索，实际分析仍须听旋律与织体。有电子音乐背景不代表所有片段都是合成器演奏，真实乐器与电子层可以叠加存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Jonathan Broxton (2017-11-30), The Last Emperor. https://moviemusicuk.us/2017/11/30/the-last-emperor-ryuichi-sakamoto-david-byrne-and-cong-su/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讲者：B。本页含媒体/互动预算约1.8分钟。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些评论帮助我们提出不同问题，而不是替我们决定答案。一种读法认为人物越被动，周围庞大的仪式和场面越有反讽力量。另一种读法担心画面压过人物，使观众只能欣赏形式。我们保留这场分歧，因此展示不以这部电影获了多少奖收尾，而是回到选段：视听形式究竟使我们更理解人物的行动，还是只是使他显得可怜？对处境的同情和对行为责任的评价可以同时存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Roger Ebert (1987-12-09), The Last Emperor. https://www.rogerebert.com/reviews/the-last-emperor-1987</a:t>
            </a:r>
          </a:p>
          <a:p xmlns:a="http://schemas.openxmlformats.org/drawingml/2006/main">
            <a:r>
              <a:t>David Thomson (2009-01-06), The Last Emperor, or The Manchurian Candidate. https://www.criterion.com/current/posts/556-the-last-emperor-or-the-manchurian-candidate</a:t>
            </a:r>
          </a:p>
          <a:p xmlns:a="http://schemas.openxmlformats.org/drawingml/2006/main">
            <a:r>
              <a:t>Rita Kempley (1987-12-17), The Last Emperor China Dull. https://www.washingtonpost.com/archive/lifestyle/1987/12/18/the-last-emperor-china-dull/a568b18d-564b-4ee2-a92d-9071cdda2546/</a:t>
            </a:r>
          </a:p>
          <a:p xmlns:a="http://schemas.openxmlformats.org/drawingml/2006/main">
            <a:r>
              <a:t>James Berardinelli, Last Emperor, The. https://www.reelviews.net/reelviews/last-emperor-the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讲者：B。本页含媒体/互动预算约2.8分钟。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用一张重访远景交代身份变化，再播放92秒身份对话与蝈蝈相关片段。这里的证据是他与孩子的交谈、昔日位置和小物件，不把蝈蝈的存在当成写实历史证据。人物重回宫殿，拥有宫殿的关系已改变。请听结尾将注意力放在什么声音上，以及它与早期仪式场面的差别。若听到不同层次，可指出实际位置，但不预设所有人都感到释然。这个结尾也允许复杂的感受，不能用最终自由了把整个人生压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原片静帧：09385_重返龙椅.jpg；本地资源D:/__Netdisk Download/The Last Emperor，HDR转SDR展示截图。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Roger Ebert (1987-12-09), The Last Emperor. https://www.rogerebert.com/reviews/the-last-emperor-1987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讲者：A。本页含媒体/互动预算约1.3分钟。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到开头的问题。我们从宫门、远景和行动结果解释人物处境，再用声音检验情感怎样形成。这里不需要宣布一种统一的故宫音色，更不需要把每一次音乐都解释成命运。比较最有用的地方，是相似动作中仍有差别：童年与成年不能完全相同，溥仪与文绣也有不同的选择和结果。音乐进入电影之后，重要的不只是作品本身是否优美，也包括它出现在哪里、与什么画面和声音一起出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讲者：AB。本页含媒体/互动预算约3分钟。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给大家15秒回想，再请两到三位同学回答。不要求回答统一。若只出现悲伤、震撼等形容词，追问它来自哪个具体镜头或声音变化。若讨论转成历史人物评价，提醒本次先区分电影怎样呈现和历史怎样发生；可以承认电影的视角有局限。若没人发言，可重放追阿嬷末尾20秒，询问人物在画面中的大小与人声的位置。预留老师追问，不用占满45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讲者：AB。本页含媒体/互动预算约0.2分钟。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完整链接和阅读范围见配套《评论阅读与取舍》。访谈用于创作经历，影评用于有归属的观点，电影画面与声音用于片段分析。本地影片约162分54秒，片段时间码只适用于这份资源。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Hillary Weston (2017-06-01), Sonic Memories: A Conversation with Ryuichi Sakamoto. https://www.criterion.com/current/posts/4625-sonic-memories-a-conversation-with-ryuichi-sakamoto</a:t>
            </a:r>
          </a:p>
          <a:p xmlns:a="http://schemas.openxmlformats.org/drawingml/2006/main">
            <a:r>
              <a:t>Vittorio Storaro (2017-12-07), Lisbon masterclass, PDF pp.10-11. https://www.academiadecinema.pt/wp-content/uploads/2018/04/MASTERCLASS-VITTORIO-STORARO-English_text.pdf</a:t>
            </a:r>
          </a:p>
          <a:p xmlns:a="http://schemas.openxmlformats.org/drawingml/2006/main">
            <a:r>
              <a:t>Roger Ebert (1987-12-09), The Last Emperor. https://www.rogerebert.com/reviews/the-last-emperor-1987</a:t>
            </a:r>
          </a:p>
          <a:p xmlns:a="http://schemas.openxmlformats.org/drawingml/2006/main">
            <a:r>
              <a:t>David Thomson (2009-01-06), The Last Emperor, or The Manchurian Candidate. https://www.criterion.com/current/posts/556-the-last-emperor-or-the-manchurian-candidate</a:t>
            </a:r>
          </a:p>
          <a:p xmlns:a="http://schemas.openxmlformats.org/drawingml/2006/main">
            <a:r>
              <a:t>Jonathan Broxton (2017-11-30), The Last Emperor. https://moviemusicuk.us/2017/11/30/the-last-emperor-ryuichi-sakamoto-david-byrne-and-cong-su/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讲者：AB。本页含媒体/互动预算约0.2分钟。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另外检索到的豆瓣长短评中，有些只能取得搜索摘录，其阅读边界在配套资料中分别标注。没有把有限样本当成观众共识。Rita Kempley只采用简短的反面评价。Oliver Stone评论的是较长版本，不能作为当前选段证据。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Diana (2019-08-23), 《末代皇帝》有哪些亮点和记忆点？ https://movie.douban.com/review/10433522/</a:t>
            </a:r>
          </a:p>
          <a:p xmlns:a="http://schemas.openxmlformats.org/drawingml/2006/main">
            <a:r>
              <a:t>Rita Kempley (1987-12-17), The Last Emperor China Dull. https://www.washingtonpost.com/archive/lifestyle/1987/12/18/the-last-emperor-china-dull/a568b18d-564b-4ee2-a92d-9071cdda2546/</a:t>
            </a:r>
          </a:p>
          <a:p xmlns:a="http://schemas.openxmlformats.org/drawingml/2006/main">
            <a:r>
              <a:t>James Berardinelli, Last Emperor, The. https://www.reelviews.net/reelviews/last-emperor-the</a:t>
            </a:r>
          </a:p>
          <a:p xmlns:a="http://schemas.openxmlformats.org/drawingml/2006/main">
            <a:r>
              <a:t>Oliver Stone (1998), An Epic That Gets Better as It Gets Longer, official archive reprint. https://bernardobertolucci.org/diary/oliver-stone-sullultimo-imperatore/?lang=en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讲者：AB。本页含媒体/互动预算约0分钟。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备用页，不计入主讲。仅在老师追问或需要补充证据时使用。全部视频与原声摘录也在离线播放页，可按原片时间回查。备用片段不因有书签就自动具有音乐分析价值。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讲者：AB。本页含媒体/互动预算约0分钟。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答疑备用。若被问具体乐器、调式或音乐cue起止，能确认的给出处，不能确认的不补猜测。必要时承认当前没有总谱、分轨和逐声部制作资料。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参考来源（2026-10-18检索）：</a:t>
            </a:r>
          </a:p>
          <a:p xmlns:a="http://schemas.openxmlformats.org/drawingml/2006/main">
            <a:r>
              <a:t>本地课程讲义：归档中《电影音乐（第三部分）》PDF第25—39、55—57页；文本入口：整理资料/文字提取/电影音乐（第三部分）.md。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feec62abe54d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95af3a6b3e41a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58aa4e753f4e6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a86b2bec754bc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db05311a8147e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513bb89a0741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8524485-169F-439E-BB05-C78D483252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BE0EFFE-37CC-41AE-A872-4D7361DE37C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23DA7A6-D9D8-4C6A-81AD-BE3382EF70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C2D1015-AA7C-4398-B354-CD708E30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80CB218-5478-485D-8E42-5484C44724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18374FD-7A74-4857-B07F-E03A62D1C2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52ACF1C-57BB-4CC2-A871-6673B37721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2682B85-E72B-4281-BA66-046AF6EE07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BBD1444-E6FC-4E71-B687-5AC11BECE6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DB7B2E5-B439-493E-A53E-4FD91F7F14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7787628e0b4349" /><Relationship Type="http://schemas.openxmlformats.org/officeDocument/2006/relationships/slideLayout" Target="/ppt/slideLayouts/slideLayout1.xml" Id="R8a6d7451f63b4c3a" /><Relationship Type="http://schemas.openxmlformats.org/officeDocument/2006/relationships/slideLayout" Target="/ppt/slideLayouts/slideLayout2.xml" Id="R09f4d355247546af" /><Relationship Type="http://schemas.openxmlformats.org/officeDocument/2006/relationships/slideLayout" Target="/ppt/slideLayouts/slideLayout3.xml" Id="R02a07cab8be24e8a" /><Relationship Type="http://schemas.openxmlformats.org/officeDocument/2006/relationships/slideLayout" Target="/ppt/slideLayouts/slideLayout4.xml" Id="R5f74b9d93d5f49a7" /><Relationship Type="http://schemas.openxmlformats.org/officeDocument/2006/relationships/slideLayout" Target="/ppt/slideLayouts/slideLayout5.xml" Id="R7b964fbb5255491e" /><Relationship Type="http://schemas.openxmlformats.org/officeDocument/2006/relationships/slideLayout" Target="/ppt/slideLayouts/slideLayout6.xml" Id="Rd63f6d2ad50545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6d7451f63b4c3a"/>
    <p:sldLayoutId xmlns:r="http://schemas.openxmlformats.org/officeDocument/2006/relationships" id="2147483650" r:id="R09f4d355247546af"/>
    <p:sldLayoutId xmlns:r="http://schemas.openxmlformats.org/officeDocument/2006/relationships" id="2147483651" r:id="R02a07cab8be24e8a"/>
    <p:sldLayoutId xmlns:r="http://schemas.openxmlformats.org/officeDocument/2006/relationships" id="2147483652" r:id="R5f74b9d93d5f49a7"/>
    <p:sldLayoutId xmlns:r="http://schemas.openxmlformats.org/officeDocument/2006/relationships" id="2147483653" r:id="R7b964fbb5255491e"/>
    <p:sldLayoutId xmlns:r="http://schemas.openxmlformats.org/officeDocument/2006/relationships" id="2147483654" r:id="Rd63f6d2ad50545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a9a2eab13c4950" /><Relationship Type="http://schemas.openxmlformats.org/officeDocument/2006/relationships/image" Target="/ppt/media/image.jpeg" Id="R6047f3cc6e014e80" /><Relationship Type="http://schemas.openxmlformats.org/officeDocument/2006/relationships/notesSlide" Target="/ppt/notesSlides/notesSlide1.xml" Id="R6242f11bb47447dd" /></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cc3d4a0251c94b31" /><ns0:Relationship Type="http://schemas.openxmlformats.org/officeDocument/2006/relationships/image" Target="/ppt/media/image2.jpeg" Id="R0404c2fbf8d54b35" /><ns0:Relationship Type="http://schemas.openxmlformats.org/officeDocument/2006/relationships/notesSlide" Target="/ppt/notesSlides/notesSlide2.xml" Id="R72e3a6af2fef410c" /><ns0:Relationship Id="rIdMediaFile1" Type="http://schemas.openxmlformats.org/officeDocument/2006/relationships/audio" Target="../media/embedded1.m4a" /><ns0:Relationship Id="rIdOfficeMedia1" Type="http://schemas.microsoft.com/office/2007/relationships/media" Target="../media/embedded1.m4a" /></ns0: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ca5e2823864b05" /><Relationship Type="http://schemas.openxmlformats.org/officeDocument/2006/relationships/image" Target="/ppt/media/image3.jpeg" Id="R79dc45ff68754b38" /><Relationship Type="http://schemas.openxmlformats.org/officeDocument/2006/relationships/notesSlide" Target="/ppt/notesSlides/notesSlide3.xml" Id="R75db3b47ef9349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95456712a94a8a" /><Relationship Type="http://schemas.openxmlformats.org/officeDocument/2006/relationships/notesSlide" Target="/ppt/notesSlides/notesSlide4.xml" Id="Rd4afef45fddf4b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b22e63ad8a4cbf" /><Relationship Type="http://schemas.openxmlformats.org/officeDocument/2006/relationships/notesSlide" Target="/ppt/notesSlides/notesSlide5.xml" Id="Ra67913a300bf4a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c35a6378584bd2" /><Relationship Type="http://schemas.openxmlformats.org/officeDocument/2006/relationships/image" Target="/ppt/media/image4.jpeg" Id="R107e1e2fcebb4351" /><Relationship Type="http://schemas.openxmlformats.org/officeDocument/2006/relationships/image" Target="/ppt/media/image5.jpeg" Id="Re854c889a34241f4" /><Relationship Type="http://schemas.openxmlformats.org/officeDocument/2006/relationships/image" Target="/ppt/media/image6.jpeg" Id="Rff0775c8b967461c" /><Relationship Type="http://schemas.openxmlformats.org/officeDocument/2006/relationships/notesSlide" Target="/ppt/notesSlides/notesSlide6.xml" Id="Rd0d8855305c045f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913a9e811b408d" /><Relationship Type="http://schemas.openxmlformats.org/officeDocument/2006/relationships/image" Target="/ppt/media/image7.jpeg" Id="R5840283d0954483c" /><Relationship Type="http://schemas.openxmlformats.org/officeDocument/2006/relationships/notesSlide" Target="/ppt/notesSlides/notesSlide7.xml" Id="R31748d394603443c" /></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589177c905014b77" /><ns0:Relationship Type="http://schemas.openxmlformats.org/officeDocument/2006/relationships/image" Target="/ppt/media/image8.jpeg" Id="R31391b28aed34252" /><ns0:Relationship Type="http://schemas.openxmlformats.org/officeDocument/2006/relationships/notesSlide" Target="/ppt/notesSlides/notesSlide8.xml" Id="Rc161c94929f14936" /><ns0:Relationship Id="rIdMediaFile2" Type="http://schemas.openxmlformats.org/officeDocument/2006/relationships/video" Target="../media/embedded2.mp4" /><ns0:Relationship Id="rIdOfficeMedia2" Type="http://schemas.microsoft.com/office/2007/relationships/media" Target="../media/embedded2.mp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69e6994eaba4836" /><ns0:Relationship Type="http://schemas.openxmlformats.org/officeDocument/2006/relationships/image" Target="/ppt/media/image9.jpeg" Id="R9ebbecadb85d4001" /><ns0:Relationship Type="http://schemas.openxmlformats.org/officeDocument/2006/relationships/notesSlide" Target="/ppt/notesSlides/notesSlide9.xml" Id="Ra9003b2268974bb8" /><ns0:Relationship Id="rIdMediaFile3" Type="http://schemas.openxmlformats.org/officeDocument/2006/relationships/video" Target="../media/embedded3.mp4" /><ns0:Relationship Id="rIdOfficeMedia3" Type="http://schemas.microsoft.com/office/2007/relationships/media" Target="../media/embedded3.mp4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4dfeeb160abc47bf" /><ns0:Relationship Type="http://schemas.openxmlformats.org/officeDocument/2006/relationships/image" Target="/ppt/media/image10.jpeg" Id="R4a5a2c5ff7e84d0b" /><ns0:Relationship Type="http://schemas.openxmlformats.org/officeDocument/2006/relationships/notesSlide" Target="/ppt/notesSlides/notesSlide10.xml" Id="R5a8ab0aa81d54efa" /><ns0:Relationship Id="rIdMediaFile4" Type="http://schemas.openxmlformats.org/officeDocument/2006/relationships/video" Target="../media/embedded4.mp4" /><ns0:Relationship Id="rIdOfficeMedia4" Type="http://schemas.microsoft.com/office/2007/relationships/media" Target="../media/embedded4.mp4" /></ns0: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3f494fa9be4b72" /><Relationship Type="http://schemas.openxmlformats.org/officeDocument/2006/relationships/image" Target="/ppt/media/image11.jpeg" Id="R5136d6f445a44c07" /><Relationship Type="http://schemas.openxmlformats.org/officeDocument/2006/relationships/image" Target="/ppt/media/image12.jpeg" Id="Rb56d696e399a4134" /><Relationship Type="http://schemas.openxmlformats.org/officeDocument/2006/relationships/notesSlide" Target="/ppt/notesSlides/notesSlide11.xml" Id="R1e0e01e90808450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44356442c34622" /><Relationship Type="http://schemas.openxmlformats.org/officeDocument/2006/relationships/image" Target="/ppt/media/image13.jpeg" Id="R9b435c7b53234752" /><Relationship Type="http://schemas.openxmlformats.org/officeDocument/2006/relationships/image" Target="/ppt/media/image14.jpeg" Id="Ra5ce673a97114ff9" /><Relationship Type="http://schemas.openxmlformats.org/officeDocument/2006/relationships/image" Target="/ppt/media/image15.jpeg" Id="Re41d4f46ab074eeb" /><Relationship Type="http://schemas.openxmlformats.org/officeDocument/2006/relationships/notesSlide" Target="/ppt/notesSlides/notesSlide12.xml" Id="R731d3c4bd1794bdd" /></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645cdf3bb2924a89" /><ns0:Relationship Type="http://schemas.openxmlformats.org/officeDocument/2006/relationships/image" Target="/ppt/media/image16.jpeg" Id="Rc69b0edf03994c80" /><ns0:Relationship Type="http://schemas.openxmlformats.org/officeDocument/2006/relationships/notesSlide" Target="/ppt/notesSlides/notesSlide13.xml" Id="R70b59a91457b496e" /><ns0:Relationship Id="rIdMediaFile5" Type="http://schemas.openxmlformats.org/officeDocument/2006/relationships/video" Target="../media/embedded5.mp4" /><ns0:Relationship Id="rIdOfficeMedia5" Type="http://schemas.microsoft.com/office/2007/relationships/media" Target="../media/embedded5.mp4" /></ns0: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ea7903f7674384" /><Relationship Type="http://schemas.openxmlformats.org/officeDocument/2006/relationships/notesSlide" Target="/ppt/notesSlides/notesSlide14.xml" Id="R4514fe380dfa4d31" /></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7dbc85b1d5b247cb" /><ns0:Relationship Type="http://schemas.openxmlformats.org/officeDocument/2006/relationships/image" Target="/ppt/media/image17.jpeg" Id="Raa8f2d4dedc34b3d" /><ns0:Relationship Type="http://schemas.openxmlformats.org/officeDocument/2006/relationships/image" Target="/ppt/media/image18.jpeg" Id="R543d100311da45b9" /><ns0:Relationship Type="http://schemas.openxmlformats.org/officeDocument/2006/relationships/notesSlide" Target="/ppt/notesSlides/notesSlide15.xml" Id="Rc91079057a58432a" /><ns0:Relationship Id="rIdMediaFile6" Type="http://schemas.openxmlformats.org/officeDocument/2006/relationships/audio" Target="../media/embedded6.m4a" /><ns0:Relationship Id="rIdOfficeMedia6" Type="http://schemas.microsoft.com/office/2007/relationships/media" Target="../media/embedded6.m4a" /><ns0:Relationship Id="rIdMediaFile7" Type="http://schemas.openxmlformats.org/officeDocument/2006/relationships/audio" Target="../media/embedded7.m4a" /><ns0:Relationship Id="rIdOfficeMedia7" Type="http://schemas.microsoft.com/office/2007/relationships/media" Target="../media/embedded7.m4a" /></ns0: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e259d0f8264523" /><Relationship Type="http://schemas.openxmlformats.org/officeDocument/2006/relationships/notesSlide" Target="/ppt/notesSlides/notesSlide16.xml" Id="R7a95009b869a4af4" /></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f160e34d6d534e9c" /><ns0:Relationship Type="http://schemas.openxmlformats.org/officeDocument/2006/relationships/image" Target="/ppt/media/image19.jpeg" Id="R1af4561065f3459a" /><ns0:Relationship Type="http://schemas.openxmlformats.org/officeDocument/2006/relationships/notesSlide" Target="/ppt/notesSlides/notesSlide17.xml" Id="R653dcd27899c47f8" /><ns0:Relationship Id="rIdMediaFile8" Type="http://schemas.openxmlformats.org/officeDocument/2006/relationships/video" Target="../media/embedded8.mp4" /><ns0:Relationship Id="rIdOfficeMedia8" Type="http://schemas.microsoft.com/office/2007/relationships/media" Target="../media/embedded8.mp4" /></ns0: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e63b2da9da40ce" /><Relationship Type="http://schemas.openxmlformats.org/officeDocument/2006/relationships/notesSlide" Target="/ppt/notesSlides/notesSlide18.xml" Id="Rc3fe3d596a20414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b0f16f4e3448a0" /><Relationship Type="http://schemas.openxmlformats.org/officeDocument/2006/relationships/notesSlide" Target="/ppt/notesSlides/notesSlide19.xml" Id="R920f2e3b90234fd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4f8be5e82b456e" /><Relationship Type="http://schemas.openxmlformats.org/officeDocument/2006/relationships/notesSlide" Target="/ppt/notesSlides/notesSlide20.xml" Id="R8dacd3b3f6054e9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813c68e51242f3" /><Relationship Type="http://schemas.openxmlformats.org/officeDocument/2006/relationships/notesSlide" Target="/ppt/notesSlides/notesSlide21.xml" Id="R0849a8fad9e8461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e02286346e4d2b" /><Relationship Type="http://schemas.openxmlformats.org/officeDocument/2006/relationships/notesSlide" Target="/ppt/notesSlides/notesSlide22.xml" Id="Rdb1e437236ad497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12456fa5f149ba" /><Relationship Type="http://schemas.openxmlformats.org/officeDocument/2006/relationships/notesSlide" Target="/ppt/notesSlides/notesSlide23.xml" Id="R087e92b5c46048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53C98-A916-4206-A992-7D5DBAD6D5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7f3cc6e014e80"/>
          <a:stretch xmlns:a="http://schemas.openxmlformats.org/drawingml/2006/main"/>
        </p:blipFill>
        <p:spPr>
          <a:xfrm xmlns:a="http://schemas.openxmlformats.org/drawingml/2006/main">
            <a:off x="549088" y="0"/>
            <a:ext cx="11093824" cy="47148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7C06B8-B385-40E8-99BC-19351999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宫门之内的奔跑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9643B9-8454-426C-BEA1-A0F68508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53125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《末代皇帝》的声音与人物处境</a:t>
            </a:r>
          </a:p>
        </p:txBody>
      </p:sp>
    </p:spTree>
    <p:extLst>
      <p:ext uri="{BB962C8B-B14F-4D97-AF65-F5344CB8AC3E}">
        <p14:creationId xmlns:p14="http://schemas.microsoft.com/office/powerpoint/2010/main" val="671404612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6" name="">
            <a:extLst>
              <a:ext uri="{FF2B5EF4-FFF2-40B4-BE49-F238E27FC236}">
                <ns2:creationId id="{6C6190DF-686A-4EAB-A1DE-38E4F77A8ACB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先听片头</a:t>
            </a:r>
          </a:p>
        </p:txBody>
      </p:sp>
      <p:pic>
        <p:nvPicPr>
          <p:cNvPr id="2" name="MEDIA_1">
            <a:extLst>
              <a:ext uri="{FF2B5EF4-FFF2-40B4-BE49-F238E27FC236}">
                <ns2:creationId id="{B5D48101-805F-4C8B-96B3-5FC85F78CC88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1"/>
            <p:extLst>
              <p:ext uri="{DAA4B4D4-5B9D-4661-A4F6-83A2F4AD3B91}">
                <p14:media r:embed="rIdOfficeMedia1"/>
              </p:ext>
            </p:extLst>
          </p:nvPr>
        </p:nvPicPr>
        <p:blipFill>
          <a:blip r:embed="R0404c2fbf8d54b35"/>
          <a:stretch/>
        </p:blipFill>
        <p:spPr>
          <a:xfrm>
            <a:off x="1277471" y="1190625"/>
            <a:ext cx="9637059" cy="409575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14C7E5C7-D791-480C-B73E-9CBE7E6DF0C4}"/>
              </a:ext>
            </a:extLst>
          </p:cNvPr>
          <p:cNvSpPr>
            <a:spLocks noGrp="1"/>
          </p:cNvSpPr>
          <p:nvPr/>
        </p:nvSpPr>
        <p:spPr>
          <a:xfrm>
            <a:off x="666750" y="5476875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如果没有画面，你会想到怎样的空间？</a:t>
            </a:r>
          </a:p>
        </p:txBody>
      </p:sp>
      <p:sp>
        <p:nvSpPr>
          <p:cNvPr id="4" name="">
            <a:extLst>
              <a:ext uri="{FF2B5EF4-FFF2-40B4-BE49-F238E27FC236}">
                <ns2:creationId id="{B2AEB6A0-7E64-4C68-A5DA-2FF810840615}"/>
              </a:ext>
            </a:extLst>
          </p:cNvPr>
          <p:cNvSpPr>
            <a:spLocks noGrp="1"/>
          </p:cNvSpPr>
          <p:nvPr/>
        </p:nvSpPr>
        <p:spPr>
          <a:xfrm>
            <a:off x="666750" y="59245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哪些声音在重复，哪些声音逐层加入？</a:t>
            </a:r>
          </a:p>
        </p:txBody>
      </p:sp>
      <p:sp>
        <p:nvSpPr>
          <p:cNvPr id="5" name="">
            <a:extLst>
              <a:ext uri="{FF2B5EF4-FFF2-40B4-BE49-F238E27FC236}">
                <ns2:creationId id="{DC1C21FD-6049-4A27-AEB5-F9870DA22E5B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val="1764317186"/>
      </p:ext>
    </p:extLst>
  </p:cSld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D94C9-8500-4963-97CB-16F10AE1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溥仪的处境变化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CCB959-57FE-4B9B-8737-592C54C9FF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c45ff68754b38"/>
          <a:stretch xmlns:a="http://schemas.openxmlformats.org/drawingml/2006/main"/>
        </p:blipFill>
        <p:spPr>
          <a:xfrm xmlns:a="http://schemas.openxmlformats.org/drawingml/2006/main">
            <a:off x="571500" y="2113359"/>
            <a:ext cx="6191250" cy="263128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790BF1-6FEA-4696-897B-803743E8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763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童年登基，在宫墙内成长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1B41A-B51A-4C17-BABC-F6F920CF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526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离宫后的生活与复辟欲望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5AFA3-4A22-48CD-8F7D-9D76BFD5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289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伪满洲国的傀儡身份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B6922-5B85-4052-BBD8-40FD6D97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052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被囚、改造，成为普通公民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72BDAB-FDA7-4E8F-9265-615D2E70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81575"/>
            <a:ext cx="428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重返已开放的故宫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7807B2-F723-4FF6-88D3-66AFB546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916366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AF8D1B-C80F-4AEA-8913-96B0ED95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三位作曲者与现代制作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EE8C9-8EE8-4EFF-969F-84CF508B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坂本龙一：电子音乐经验与管弦乐写作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5E3E9D-D0C4-4A12-8A5F-4E43DDAA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David Byrne：片头Main Title Theme等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491916-6C60-40E1-8CB8-3B9DC2CA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苏聪：宫廷场景中的中国音乐创作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CC687-74ED-494D-A08F-1B1095E4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真实乐器录音与电子制作可以同时存在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7545A-6A3A-4557-9E70-E2D540E2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856670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A3B3A9-FF6B-4DF0-8BC6-C19C763B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“中国感”怎样形成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8DFD2E-B2A3-4802-92B7-BF781E791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音色：弓弦、拨弦、打击与持续音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37B84-F757-4867-8B21-FFD12115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旋律、节奏与声部层次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80553-0EB4-4358-A873-AB891C53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录音、电子加工和混音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CE7FC1-4BB9-4D85-A868-5A9F5727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听众的经验与银幕上的宫殿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51ECC-0F2E-45B5-8400-D318C2FF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93730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B1EB85-CDA7-4CB2-B528-3F05AA9D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同一座宫城，不同的位置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622E3-D188-4DD4-8863-E6BC937AD4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e1e2fcebb4351"/>
          <a:stretch xmlns:a="http://schemas.openxmlformats.org/drawingml/2006/main"/>
        </p:blipFill>
        <p:spPr>
          <a:xfrm xmlns:a="http://schemas.openxmlformats.org/drawingml/2006/main">
            <a:off x="571500" y="1775222"/>
            <a:ext cx="3524250" cy="149780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917A6-7611-4F90-93EA-454B665F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43325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00:09:14　初入宫城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C24FC-30C9-4894-B458-B8E3C71BC2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54c889a34241f4"/>
          <a:stretch xmlns:a="http://schemas.openxmlformats.org/drawingml/2006/main"/>
        </p:blipFill>
        <p:spPr>
          <a:xfrm xmlns:a="http://schemas.openxmlformats.org/drawingml/2006/main">
            <a:off x="4333875" y="1775222"/>
            <a:ext cx="3524250" cy="149780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2B76A-F52D-437A-87B5-85DBD3E5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743325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00:41:24　庄士敦到来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28C08-78A2-4F7C-AD08-248A41F507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775c8b967461c"/>
          <a:stretch xmlns:a="http://schemas.openxmlformats.org/drawingml/2006/main"/>
        </p:blipFill>
        <p:spPr>
          <a:xfrm xmlns:a="http://schemas.openxmlformats.org/drawingml/2006/main">
            <a:off x="8096250" y="1775222"/>
            <a:ext cx="3524250" cy="1497806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50B41-00EE-4149-8343-37134204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43325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02:35:38　普通人重返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03F175-A59E-45EA-8834-C0D891BD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建筑延续，人物、交通工具和通行方式改变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CAF764-2AAA-494A-AC14-54A448AD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46576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D91C2-716C-406D-831C-6F4131CA5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远景里的小人物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4CF08-7FBC-442B-B506-04A6A8B79A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40283d0954483c"/>
          <a:stretch xmlns:a="http://schemas.openxmlformats.org/drawingml/2006/main"/>
        </p:blipFill>
        <p:spPr>
          <a:xfrm xmlns:a="http://schemas.openxmlformats.org/drawingml/2006/main">
            <a:off x="1277471" y="1190625"/>
            <a:ext cx="9637059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5A654-7AE8-46C5-9968-643253E1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人物移动，建筑保持稳定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B80E0-CA63-460B-B1B2-A9DCD3A4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245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权力的中心，也可能是行动的边界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A540A-3711-418D-AD92-3FE30ADA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01617840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EA5E71F6-F3F2-4150-8B6C-BC39E237B6F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追阿嬷：运动与距离</a:t>
            </a:r>
          </a:p>
        </p:txBody>
      </p:sp>
      <p:pic>
        <p:nvPicPr>
          <p:cNvPr id="2" name="MEDIA_7">
            <a:extLst>
              <a:ext uri="{FF2B5EF4-FFF2-40B4-BE49-F238E27FC236}">
                <ns2:creationId id="{12A16AC5-C0A1-4705-B319-6EAEB4114266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2"/>
            <p:extLst>
              <p:ext uri="{DAA4B4D4-5B9D-4661-A4F6-83A2F4AD3B91}">
                <p14:media r:embed="rIdOfficeMedia2"/>
              </p:ext>
            </p:extLst>
          </p:nvPr>
        </p:nvPicPr>
        <p:blipFill>
          <a:blip r:embed="R31391b28aed34252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5DEA0182-B151-45E9-9145-AA7C600CCCEF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从近处的动作，走向宫殿远景</a:t>
            </a:r>
          </a:p>
        </p:txBody>
      </p:sp>
      <p:sp>
        <p:nvSpPr>
          <p:cNvPr id="4" name="">
            <a:extLst>
              <a:ext uri="{FF2B5EF4-FFF2-40B4-BE49-F238E27FC236}">
                <ns2:creationId id="{0CBCFBA6-B865-492B-BEC0-EF1AB1B2D669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听声音怎样连接或分开这些镜头</a:t>
            </a:r>
          </a:p>
        </p:txBody>
      </p:sp>
      <p:sp>
        <p:nvSpPr>
          <p:cNvPr id="5" name="">
            <a:extLst>
              <a:ext uri="{FF2B5EF4-FFF2-40B4-BE49-F238E27FC236}">
                <ns2:creationId id="{B3FA9A23-30B3-4E7B-8E22-A9504557DD62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05_追阿嬷</a:t>
            </a:r>
          </a:p>
        </p:txBody>
      </p:sp>
      <p:sp>
        <p:nvSpPr>
          <p:cNvPr id="6" name="">
            <a:extLst>
              <a:ext uri="{FF2B5EF4-FFF2-40B4-BE49-F238E27FC236}">
                <ns2:creationId id="{B2140C87-D354-4A11-B9AA-5D25C3675562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val="617781443"/>
      </p:ext>
    </p:extLst>
  </p:cSld>
  <p:timing>
    <p:tnLst>
      <p:par>
        <p:cTn id="1" dur="indefinite" restart="never" nodeType="tmRoot">
          <p:childTnLst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E5AE0C0D-D392-4B50-88A9-C0CBEDFE8D0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追婉容：相似动作，成年处境</a:t>
            </a:r>
          </a:p>
        </p:txBody>
      </p:sp>
      <p:pic>
        <p:nvPicPr>
          <p:cNvPr id="2" name="MEDIA_8">
            <a:extLst>
              <a:ext uri="{FF2B5EF4-FFF2-40B4-BE49-F238E27FC236}">
                <ns2:creationId id="{E83616EA-CAC9-4AA3-8C72-90D40177FE5B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3"/>
            <p:extLst>
              <p:ext uri="{DAA4B4D4-5B9D-4661-A4F6-83A2F4AD3B91}">
                <p14:media r:embed="rIdOfficeMedia3"/>
              </p:ext>
            </p:extLst>
          </p:nvPr>
        </p:nvPicPr>
        <p:blipFill>
          <a:blip r:embed="R9ebbecadb85d4001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FD99FA4E-D954-43C5-9E42-2B963F78A068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又一次追逐，又一次要求开门</a:t>
            </a:r>
          </a:p>
        </p:txBody>
      </p:sp>
      <p:sp>
        <p:nvSpPr>
          <p:cNvPr id="4" name="">
            <a:extLst>
              <a:ext uri="{FF2B5EF4-FFF2-40B4-BE49-F238E27FC236}">
                <ns2:creationId id="{4B4611DB-4F04-4677-BB67-FEC7C436EC10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比较动作的结果，也比较声音的处理</a:t>
            </a:r>
          </a:p>
        </p:txBody>
      </p:sp>
      <p:sp>
        <p:nvSpPr>
          <p:cNvPr id="5" name="">
            <a:extLst>
              <a:ext uri="{FF2B5EF4-FFF2-40B4-BE49-F238E27FC236}">
                <ns2:creationId id="{521964A1-347D-4A15-9EE6-936F2F9C0C86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10_追婉容</a:t>
            </a:r>
          </a:p>
        </p:txBody>
      </p:sp>
      <p:sp>
        <p:nvSpPr>
          <p:cNvPr id="6" name="">
            <a:extLst>
              <a:ext uri="{FF2B5EF4-FFF2-40B4-BE49-F238E27FC236}">
                <ns2:creationId id="{0AA04BE7-281E-45EE-9739-B9243B24D5E3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val="966261429"/>
      </p:ext>
    </p:extLst>
  </p:cSld>
  <p:timing>
    <p:tnLst>
      <p:par>
        <p:cTn id="1" dur="indefinite" restart="never" nodeType="tmRoot">
          <p:childTnLst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B27EF850-9954-4B45-BA5D-9B32BE388CCB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文绣在雨中离开</a:t>
            </a:r>
          </a:p>
        </p:txBody>
      </p:sp>
      <p:pic>
        <p:nvPicPr>
          <p:cNvPr id="2" name="MEDIA_9">
            <a:extLst>
              <a:ext uri="{FF2B5EF4-FFF2-40B4-BE49-F238E27FC236}">
                <ns2:creationId id="{E22670B1-720F-4513-8F48-3914408B0DAB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4"/>
            <p:extLst>
              <p:ext uri="{DAA4B4D4-5B9D-4661-A4F6-83A2F4AD3B91}">
                <p14:media r:embed="rIdOfficeMedia4"/>
              </p:ext>
            </p:extLst>
          </p:nvPr>
        </p:nvPicPr>
        <p:blipFill>
          <a:blip r:embed="R4a5a2c5ff7e84d0b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2EF4992A-9765-4AAC-8B03-4B7433BF4E2E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“离开”在这里有了不同的结果</a:t>
            </a:r>
          </a:p>
        </p:txBody>
      </p:sp>
      <p:sp>
        <p:nvSpPr>
          <p:cNvPr id="4" name="">
            <a:extLst>
              <a:ext uri="{FF2B5EF4-FFF2-40B4-BE49-F238E27FC236}">
                <ns2:creationId id="{77469E13-DA1A-414F-B010-E168A63BC357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雨、身体动作与音乐共同决定感受</a:t>
            </a:r>
          </a:p>
        </p:txBody>
      </p:sp>
      <p:sp>
        <p:nvSpPr>
          <p:cNvPr id="5" name="">
            <a:extLst>
              <a:ext uri="{FF2B5EF4-FFF2-40B4-BE49-F238E27FC236}">
                <ns2:creationId id="{6618DA13-CEDB-4ACE-B664-8904108259C8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09_雨中离开</a:t>
            </a:r>
          </a:p>
        </p:txBody>
      </p:sp>
      <p:sp>
        <p:nvSpPr>
          <p:cNvPr id="6" name="">
            <a:extLst>
              <a:ext uri="{FF2B5EF4-FFF2-40B4-BE49-F238E27FC236}">
                <ns2:creationId id="{14A8D330-6EA2-4B20-8785-FD6C57091005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val="1172709552"/>
      </p:ext>
    </p:extLst>
  </p:cSld>
  <p:timing>
    <p:tnLst>
      <p:par>
        <p:cTn id="1" dur="indefinite" restart="never" nodeType="tmRoot">
          <p:childTnLst>
            <p:video>
              <p:cMediaNode vol="80000">
                <p:cTn id="5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90ADC2-7BA9-4EB5-AB3F-1B0313E3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奔跑与自行车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B7BB5C-AD59-4A2B-91E7-D32AED3906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36d6f445a44c07"/>
          <a:stretch xmlns:a="http://schemas.openxmlformats.org/drawingml/2006/main"/>
        </p:blipFill>
        <p:spPr>
          <a:xfrm xmlns:a="http://schemas.openxmlformats.org/drawingml/2006/main">
            <a:off x="571500" y="1577578"/>
            <a:ext cx="5238750" cy="222646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F8C73-BC2F-4296-8CDC-7C93AB70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7195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童年的奔跑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D3FE18-B34F-4038-8378-4C61546A32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6d696e399a4134"/>
          <a:stretch xmlns:a="http://schemas.openxmlformats.org/drawingml/2006/main"/>
        </p:blipFill>
        <p:spPr>
          <a:xfrm xmlns:a="http://schemas.openxmlformats.org/drawingml/2006/main">
            <a:off x="6191250" y="1577578"/>
            <a:ext cx="5238750" cy="222646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6F4EF-6EC2-47A8-9080-E95F37EC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71950"/>
            <a:ext cx="523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自行车带来新的移动方式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378FC6-B9A5-4CB7-B3CC-197947F5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更快的运动，是否带来更大的自由？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DF73A-A9EB-4044-B0B2-2B3853389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345872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EF7746-BF88-4753-BBC1-FFEACF26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颜色的安排与人物阶段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90D9C-E6E1-4A0B-A79D-A71A0FF0E0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435c7b53234752"/>
          <a:stretch xmlns:a="http://schemas.openxmlformats.org/drawingml/2006/main"/>
        </p:blipFill>
        <p:spPr>
          <a:xfrm xmlns:a="http://schemas.openxmlformats.org/drawingml/2006/main">
            <a:off x="571500" y="1775222"/>
            <a:ext cx="3524250" cy="149780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C7FBB-4CE3-4013-BBBE-93A5771D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43325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红与进入回忆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DAB27E-808A-401F-BC76-03713CD76A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ce673a97114ff9"/>
          <a:stretch xmlns:a="http://schemas.openxmlformats.org/drawingml/2006/main"/>
        </p:blipFill>
        <p:spPr>
          <a:xfrm xmlns:a="http://schemas.openxmlformats.org/drawingml/2006/main">
            <a:off x="4333875" y="1775222"/>
            <a:ext cx="3524250" cy="149780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BDE169-51A9-44EB-BC10-840C0D8F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743325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绿色物件与外界知识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9DD058-89B7-48CF-BCCA-BAC332DFA1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1d4f46ab074eeb"/>
          <a:stretch xmlns:a="http://schemas.openxmlformats.org/drawingml/2006/main"/>
        </p:blipFill>
        <p:spPr>
          <a:xfrm xmlns:a="http://schemas.openxmlformats.org/drawingml/2006/main">
            <a:off x="8096250" y="1775222"/>
            <a:ext cx="3524250" cy="1497806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401C5A-25A1-4AF0-BDA2-F359A7A3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43325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离宫与身份变化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11A9A8-0C45-4CD2-A07B-5ABF20FA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57750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Storaro的创作自述提供线索，不是固定解码表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6FAEE-A016-45BF-BEA2-0839D336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34942762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37427DAA-A848-4B21-B32C-F7C2B65C1D9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回忆怎样开始</a:t>
            </a:r>
          </a:p>
        </p:txBody>
      </p:sp>
      <p:pic>
        <p:nvPicPr>
          <p:cNvPr id="2" name="MEDIA_12">
            <a:extLst>
              <a:ext uri="{FF2B5EF4-FFF2-40B4-BE49-F238E27FC236}">
                <ns2:creationId id="{5134C8D5-9501-46E3-BFF1-1A96EED2491B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5"/>
            <p:extLst>
              <p:ext uri="{DAA4B4D4-5B9D-4661-A4F6-83A2F4AD3B91}">
                <p14:media r:embed="rIdOfficeMedia5"/>
              </p:ext>
            </p:extLst>
          </p:nvPr>
        </p:nvPicPr>
        <p:blipFill>
          <a:blip r:embed="Rc69b0edf03994c80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A915E680-7170-4BF5-A0B7-949DCA2726FA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1950年的身体，接到1908年的宫门</a:t>
            </a:r>
          </a:p>
        </p:txBody>
      </p:sp>
      <p:sp>
        <p:nvSpPr>
          <p:cNvPr id="4" name="">
            <a:extLst>
              <a:ext uri="{FF2B5EF4-FFF2-40B4-BE49-F238E27FC236}">
                <ns2:creationId id="{DBF02307-B835-4767-A979-D25A67E95A8F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镜头跨越时间，声音可以组织连续感</a:t>
            </a:r>
          </a:p>
        </p:txBody>
      </p:sp>
      <p:sp>
        <p:nvSpPr>
          <p:cNvPr id="5" name="">
            <a:extLst>
              <a:ext uri="{FF2B5EF4-FFF2-40B4-BE49-F238E27FC236}">
                <ns2:creationId id="{A1668A14-2FF3-44BD-8F66-C4E93843033A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02_首次回忆转场</a:t>
            </a:r>
          </a:p>
        </p:txBody>
      </p:sp>
      <p:sp>
        <p:nvSpPr>
          <p:cNvPr id="6" name="">
            <a:extLst>
              <a:ext uri="{FF2B5EF4-FFF2-40B4-BE49-F238E27FC236}">
                <ns2:creationId id="{35ADECC0-9BF9-41ED-813D-6D1BE3FB7435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val="1868581757"/>
      </p:ext>
    </p:extLst>
  </p:cSld>
  <p:timing>
    <p:tnLst>
      <p:par>
        <p:cTn id="1" dur="indefinite" restart="never" nodeType="tmRoot">
          <p:childTnLst>
            <p:video>
              <p:cMediaNode vol="80000">
                <p:cTn id="6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BEF45C-9077-41D7-8C3D-010C5025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声源、声音桥与静默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938CFF-3907-4BD5-AF8A-B1DE4617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有源：音乐属于故事世界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EBF00A-8D6F-40F3-979B-22F23F2E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无源：音乐位于影片叙述层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E5700-A059-4EC4-A810-C8D5D501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声音桥：声音跨过镜头或场景切换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D72334-2C8D-4BAA-A82B-0150DE0B4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无配乐时，台词与环境声仍可存在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C3180-E5C8-4DE8-95CF-31614D9D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90389839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1" name="">
            <a:extLst>
              <a:ext uri="{FF2B5EF4-FFF2-40B4-BE49-F238E27FC236}">
                <ns2:creationId id="{DF1DAABC-D58C-4F57-907A-3E030DEB23E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主题重现与编配变化</a:t>
            </a:r>
          </a:p>
        </p:txBody>
      </p:sp>
      <p:sp>
        <p:nvSpPr>
          <p:cNvPr id="2" name="">
            <a:extLst>
              <a:ext uri="{FF2B5EF4-FFF2-40B4-BE49-F238E27FC236}">
                <ns2:creationId id="{0A8306DE-11A6-4A68-93F6-AE78284C7462}"/>
              </a:ext>
            </a:extLst>
          </p:cNvPr>
          <p:cNvSpPr>
            <a:spLocks noGrp="1"/>
          </p:cNvSpPr>
          <p:nvPr/>
        </p:nvSpPr>
        <p:spPr>
          <a:xfrm>
            <a:off x="571500" y="13335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先比较旋律轮廓、节奏和乐句</a:t>
            </a:r>
          </a:p>
        </p:txBody>
      </p:sp>
      <p:sp>
        <p:nvSpPr>
          <p:cNvPr id="3" name="">
            <a:extLst>
              <a:ext uri="{FF2B5EF4-FFF2-40B4-BE49-F238E27FC236}">
                <ns2:creationId id="{E60CBF55-057D-4295-9310-EAA97DECA1F6}"/>
              </a:ext>
            </a:extLst>
          </p:cNvPr>
          <p:cNvSpPr>
            <a:spLocks noGrp="1"/>
          </p:cNvSpPr>
          <p:nvPr/>
        </p:nvSpPr>
        <p:spPr>
          <a:xfrm>
            <a:off x="571500" y="19431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再比较音色、织体与力度</a:t>
            </a:r>
          </a:p>
        </p:txBody>
      </p:sp>
      <p:sp>
        <p:nvSpPr>
          <p:cNvPr id="4" name="">
            <a:extLst>
              <a:ext uri="{FF2B5EF4-FFF2-40B4-BE49-F238E27FC236}">
                <ns2:creationId id="{4922BE38-6619-4F68-B0FC-81E6064644EB}"/>
              </a:ext>
            </a:extLst>
          </p:cNvPr>
          <p:cNvSpPr>
            <a:spLocks noGrp="1"/>
          </p:cNvSpPr>
          <p:nvPr/>
        </p:nvSpPr>
        <p:spPr>
          <a:xfrm>
            <a:off x="571500" y="2552700"/>
            <a:ext cx="11049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相同材料换了处境，意义可能改变</a:t>
            </a:r>
          </a:p>
        </p:txBody>
      </p:sp>
      <p:pic>
        <p:nvPicPr>
          <p:cNvPr id="5" name="MEDIA_14">
            <a:extLst>
              <a:ext uri="{FF2B5EF4-FFF2-40B4-BE49-F238E27FC236}">
                <ns2:creationId id="{1455ABBF-D9B5-4791-A198-73744F238779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6"/>
            <p:extLst>
              <p:ext uri="{DAA4B4D4-5B9D-4661-A4F6-83A2F4AD3B91}">
                <p14:media r:embed="rIdOfficeMedia6"/>
              </p:ext>
            </p:extLst>
          </p:nvPr>
        </p:nvPicPr>
        <p:blipFill>
          <a:blip r:embed="Raa8f2d4dedc34b3d"/>
          <a:stretch/>
        </p:blipFill>
        <p:spPr>
          <a:xfrm>
            <a:off x="762000" y="3524250"/>
            <a:ext cx="2190750" cy="2190750"/>
          </a:xfrm>
          <a:prstGeom prst="rect">
            <a:avLst/>
          </a:prstGeom>
        </p:spPr>
      </p:pic>
      <p:pic>
        <p:nvPicPr>
          <p:cNvPr id="6" name="MEDIA_14_b">
            <a:extLst>
              <a:ext uri="{FF2B5EF4-FFF2-40B4-BE49-F238E27FC236}">
                <ns2:creationId id="{4F18A377-E8EE-4F9B-A78D-43D0F141EDC4}"/>
              </a:ext>
            </a:extLst>
            <a:hlinkClick action="ppaction://media"/>
          </p:cNvPr>
          <p:cNvPicPr>
            <a:picLocks noChangeAspect="1"/>
          </p:cNvPicPr>
          <p:nvPr>
            <a:audioFile r:link="rIdMediaFile7"/>
            <p:extLst>
              <p:ext uri="{DAA4B4D4-5B9D-4661-A4F6-83A2F4AD3B91}">
                <p14:media r:embed="rIdOfficeMedia7"/>
              </p:ext>
            </p:extLst>
          </p:nvPr>
        </p:nvPicPr>
        <p:blipFill>
          <a:blip r:embed="R543d100311da45b9"/>
          <a:stretch/>
        </p:blipFill>
        <p:spPr>
          <a:xfrm>
            <a:off x="6477000" y="3524250"/>
            <a:ext cx="2190750" cy="2190750"/>
          </a:xfrm>
          <a:prstGeom prst="rect">
            <a:avLst/>
          </a:prstGeom>
        </p:spPr>
      </p:pic>
      <p:sp>
        <p:nvSpPr>
          <p:cNvPr id="7" name="">
            <a:extLst>
              <a:ext uri="{FF2B5EF4-FFF2-40B4-BE49-F238E27FC236}">
                <ns2:creationId id="{9E46F04E-B119-441A-B7D9-6833E42CB775}"/>
              </a:ext>
            </a:extLst>
          </p:cNvPr>
          <p:cNvSpPr>
            <a:spLocks noGrp="1"/>
          </p:cNvSpPr>
          <p:nvPr/>
        </p:nvSpPr>
        <p:spPr>
          <a:xfrm>
            <a:off x="3238500" y="3905250"/>
            <a:ext cx="2952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A　Theme Variation 2</a:t>
            </a:r>
          </a:p>
        </p:txBody>
      </p:sp>
      <p:sp>
        <p:nvSpPr>
          <p:cNvPr id="8" name="">
            <a:extLst>
              <a:ext uri="{FF2B5EF4-FFF2-40B4-BE49-F238E27FC236}">
                <ns2:creationId id="{0B79E65B-BBFA-40F2-A17A-66E918DF396F}"/>
              </a:ext>
            </a:extLst>
          </p:cNvPr>
          <p:cNvSpPr>
            <a:spLocks noGrp="1"/>
          </p:cNvSpPr>
          <p:nvPr/>
        </p:nvSpPr>
        <p:spPr>
          <a:xfrm>
            <a:off x="8953500" y="3905250"/>
            <a:ext cx="2571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B　Theme</a:t>
            </a:r>
          </a:p>
        </p:txBody>
      </p:sp>
      <p:sp>
        <p:nvSpPr>
          <p:cNvPr id="9" name="">
            <a:extLst>
              <a:ext uri="{FF2B5EF4-FFF2-40B4-BE49-F238E27FC236}">
                <ns2:creationId id="{6984D109-DE7D-43BB-B07E-55F90F49B891}"/>
              </a:ext>
            </a:extLst>
          </p:cNvPr>
          <p:cNvSpPr>
            <a:spLocks noGrp="1"/>
          </p:cNvSpPr>
          <p:nvPr/>
        </p:nvSpPr>
        <p:spPr>
          <a:xfrm>
            <a:off x="571500" y="6000750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点击封面播放对应原声摘录</a:t>
            </a:r>
          </a:p>
        </p:txBody>
      </p:sp>
      <p:sp>
        <p:nvSpPr>
          <p:cNvPr id="10" name="">
            <a:extLst>
              <a:ext uri="{FF2B5EF4-FFF2-40B4-BE49-F238E27FC236}">
                <ns2:creationId id="{38A0A9D3-5653-4F69-9855-341954C10FF5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  <p:extLst>
      <p:ext uri="{BB962C8B-B14F-4D97-AF65-F5344CB8AC3E}">
        <p14:creationId val="273827407"/>
      </p:ext>
    </p:extLst>
  </p:cSld>
  <p:timing>
    <p:tnLst>
      <p:par>
        <p:cTn id="1" dur="indefinite" restart="never" nodeType="tmRoot">
          <p:childTnLst>
            <p:audi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audio>
            <p:audio>
              <p:cMediaNode vol="80000">
                <p:cTn id="8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8EB40-971D-4540-98DF-04520F5A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评论之间并不一致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1F0698-7345-426F-8A9C-0BF43242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Ebert：受限的行动值得理解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A0B02E-BB7F-4A52-AC79-F3F06C99B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Thomson：宏大中也有日常细节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E87FDF-E228-4790-B28E-7216913D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Kempley：华丽形式未必带来戏剧张力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B3602-EED9-465C-B786-5E0071E5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观看人物的处境，也追问他的选择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CB6C39-833F-47AF-9D73-65EF80EE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71815974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17171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" name="">
            <a:extLst>
              <a:ext uri="{FF2B5EF4-FFF2-40B4-BE49-F238E27FC236}">
                <ns2:creationId id="{11D648F5-861F-478F-BAD2-45BF63AEA34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重返龙椅</a:t>
            </a:r>
          </a:p>
        </p:txBody>
      </p:sp>
      <p:pic>
        <p:nvPicPr>
          <p:cNvPr id="2" name="MEDIA_16">
            <a:extLst>
              <a:ext uri="{FF2B5EF4-FFF2-40B4-BE49-F238E27FC236}">
                <ns2:creationId id="{726A45FD-4B9B-4A81-A4FA-A09B0715801E}"/>
              </a:ext>
            </a:extLst>
            <a:hlinkClick action="ppaction://media"/>
          </p:cNvPr>
          <p:cNvPicPr>
            <a:picLocks noChangeAspect="1"/>
          </p:cNvPicPr>
          <p:nvPr>
            <a:videoFile r:link="rIdMediaFile8"/>
            <p:extLst>
              <p:ext uri="{DAA4B4D4-5B9D-4661-A4F6-83A2F4AD3B91}">
                <p14:media r:embed="rIdOfficeMedia8"/>
              </p:ext>
            </p:extLst>
          </p:nvPr>
        </p:nvPicPr>
        <p:blipFill>
          <a:blip r:embed="R1af4561065f3459a"/>
          <a:stretch/>
        </p:blipFill>
        <p:spPr>
          <a:xfrm>
            <a:off x="571500" y="1905000"/>
            <a:ext cx="7620000" cy="32385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442C9A76-3B0A-47A4-866E-32BD3545ADB8}"/>
              </a:ext>
            </a:extLst>
          </p:cNvPr>
          <p:cNvSpPr>
            <a:spLocks noGrp="1"/>
          </p:cNvSpPr>
          <p:nvPr/>
        </p:nvSpPr>
        <p:spPr>
          <a:xfrm>
            <a:off x="8667750" y="1714500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皇帝身份成为一段需要证明的记忆</a:t>
            </a:r>
          </a:p>
        </p:txBody>
      </p:sp>
      <p:sp>
        <p:nvSpPr>
          <p:cNvPr id="4" name="">
            <a:extLst>
              <a:ext uri="{FF2B5EF4-FFF2-40B4-BE49-F238E27FC236}">
                <ns2:creationId id="{2B7CFBB6-3E15-43C6-AD47-9CADADCD7DA8}"/>
              </a:ext>
            </a:extLst>
          </p:cNvPr>
          <p:cNvSpPr>
            <a:spLocks noGrp="1"/>
          </p:cNvSpPr>
          <p:nvPr/>
        </p:nvSpPr>
        <p:spPr>
          <a:xfrm>
            <a:off x="8667750" y="3286125"/>
            <a:ext cx="28575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宏大的空间里，留下一个小物件</a:t>
            </a:r>
          </a:p>
        </p:txBody>
      </p:sp>
      <p:sp>
        <p:nvSpPr>
          <p:cNvPr id="5" name="">
            <a:extLst>
              <a:ext uri="{FF2B5EF4-FFF2-40B4-BE49-F238E27FC236}">
                <ns2:creationId id="{9624744F-9F87-41AF-B091-A496A034FAD8}"/>
              </a:ext>
            </a:extLst>
          </p:cNvPr>
          <p:cNvSpPr>
            <a:spLocks noGrp="1"/>
          </p:cNvSpPr>
          <p:nvPr/>
        </p:nvSpPr>
        <p:spPr>
          <a:xfrm>
            <a:off x="571500" y="596265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点击画面播放　13_龙椅与蝈蝈</a:t>
            </a:r>
          </a:p>
        </p:txBody>
      </p:sp>
      <p:sp>
        <p:nvSpPr>
          <p:cNvPr id="6" name="">
            <a:extLst>
              <a:ext uri="{FF2B5EF4-FFF2-40B4-BE49-F238E27FC236}">
                <ns2:creationId id="{65978B5E-9B83-4C34-BD93-E8D992E0DFFD}"/>
              </a:ext>
            </a:extLst>
          </p:cNvPr>
          <p:cNvSpPr>
            <a:spLocks noGrp="1"/>
          </p:cNvSpPr>
          <p:nvPr/>
        </p:nvSpPr>
        <p:spPr>
          <a:xfrm>
            <a:off x="11144250" y="647700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  <p:extLst>
      <p:ext uri="{BB962C8B-B14F-4D97-AF65-F5344CB8AC3E}">
        <p14:creationId val="625209340"/>
      </p:ext>
    </p:extLst>
  </p:cSld>
  <p:timing>
    <p:tnLst>
      <p:par>
        <p:cTn id="1" dur="indefinite" restart="never" nodeType="tmRoot">
          <p:childTnLst>
            <p:video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831741-7BEF-433B-9043-BFB7E60C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声音怎样参与人物叙事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B9363E-A289-4AC2-B8C8-1C66D94D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空间尺度让人物的行动显得有限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41229-CCA6-4E3C-9F7E-AA68D929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相似动作使不同处境可以比较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33C13-F186-4039-BAE3-C6AF857F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声音决定观众靠近什么、等待什么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E2168-8CE0-485A-A94B-01B814EA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同情人物与判断责任可以并存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13323-2FDF-47C6-920A-33C75D37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930247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6E5DF0-360B-4DEA-AAA8-0BCB8C81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讨论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C715A-D2B5-46A8-B251-D5B0490B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哪一个片段最改变你对人物的距离感？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DD5B0F-D26D-49A8-B66F-8C58EFD4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请指出一个画面细节和一个声音细节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70F1B-7AFB-4AF6-8789-42FFE6FF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这种同情会影响你对人物选择的判断吗？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3F9EB-B825-40D1-B922-6903E8DC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7003236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2B6A31-A5F6-4F1A-8D50-AB9F7C58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主要参考资料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4E18C6-49A5-4702-953D-405B8F32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Hillary Weston，坂本龙一访谈，Criterion，2017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DCCE49-A6EB-41CE-A84D-8B2C3D88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8125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Vittorio Storaro，里斯本大师课，2017，第10—11页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31E57-8A2A-45AB-A224-61CF7287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3850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Roger Ebert，The Last Emperor，1987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1D213D-D515-43C6-B9B4-4473587A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9575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David Thomson，Criterion专栏，2009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C38D41-D09D-4B37-A2C7-2014CF07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5300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Jonathan Broxton，Movie Music UK配乐评论，2017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03FB95-8710-4053-A88F-D94722B7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117579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557DA-3500-4BD2-9CBF-2F71BC18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评论与课程参考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E23C34-BA0A-4B15-8717-A03FC5C5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Diana，豆瓣《有哪些亮点和记忆点？》，2019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F7FDE5-D55E-4B3F-BF89-F10954D3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8125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Rita Kempley，Washington Post，1987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273C1-0540-4193-8F2A-7E7B5D79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3850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James Berardinelli，ReelViews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DB35B-6108-4918-9024-ADB3D748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9575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Oliver Stone，1998影评，导演官方档案转载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A2ED0D-D3E8-4F70-9447-A553AA9C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5300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课程《电影音乐》第三部分，第25—39、55—57页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151B4-C953-4411-8CCB-FA84D4D5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0699283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5CDD7-580C-4BD3-80C4-FC0CE720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备用片段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3309EA-0C5A-40EE-91D1-A5FC77BA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童年奔跑　00:27:05—00:28:05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B69263-994B-4A6E-AEA6-53A998E1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自行车　00:53:05—00:54:05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BD64E-BB15-4B8F-BFAC-F04B1C25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枪声附近转场　02:20:35—02:21:05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4F77F-776B-44EC-8796-D1FCB728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重访远景　02:35:15—02:36:05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77D17-F16B-43D9-AD08-E65DACCD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68860805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717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641A50-9E26-4566-9AB2-42EFF58C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分析用语的范围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C3240-045B-424B-BEE0-8C9C6870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240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相似旋律不必然等于同一录音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D36B6C-63A9-4B43-B853-C025C954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717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声画同步要说明同步的是节奏还是情绪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97CB6-D6AC-4802-96B3-2A43B3D4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F1E7D3"/>
                </a:solidFill>
                <a:latin typeface="Microsoft YaHei"/>
                <a:ea typeface="Microsoft YaHei"/>
                <a:cs typeface="Microsoft YaHei"/>
              </a:rPr>
              <a:t>无配乐不等于没有声音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C4FE2-491C-4EE1-907F-02583724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672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D5B16B"/>
                </a:solidFill>
                <a:latin typeface="Microsoft YaHei"/>
                <a:ea typeface="Microsoft YaHei"/>
                <a:cs typeface="Microsoft YaHei"/>
              </a:rPr>
              <a:t>银幕中的历史人物不等于完整历史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AE26F2-B113-404E-B395-C01C84E7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57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B5AD9D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0480837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2026-10-18T12:43:46.0480000Z</dcterms:created>
  <dcterms:modified xsi:type="dcterms:W3CDTF">2026-10-18T12:43:46.0480000Z</dcterms:modified>
</coreProperties>
</file>