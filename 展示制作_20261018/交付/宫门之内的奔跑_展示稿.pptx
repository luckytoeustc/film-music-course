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Default Extension="mp4" ContentType="video/mp4"/>
  <Default Extension="m4a" ContentType="audi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94f943e3574777" /><Relationship Type="http://schemas.openxmlformats.org/officeDocument/2006/relationships/extended-properties" Target="/docProps/app.xml" Id="R3b5544b020ee4730" /><Relationship Type="http://schemas.openxmlformats.org/officeDocument/2006/relationships/officeDocument" Target="/ppt/presentation.xml" Id="R541d42a441254c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7d1f75ddc74091"/>
  </p:sldMasterIdLst>
  <p:notesMasterIdLst>
    <p:notesMasterId xmlns:r="http://schemas.openxmlformats.org/officeDocument/2006/relationships" r:id="Rd9b5c46f47d943d7"/>
  </p:notesMasterIdLst>
  <p:sldIdLst>
    <p:sldId xmlns:r="http://schemas.openxmlformats.org/officeDocument/2006/relationships" id="256" r:id="R403cd771827447d5"/>
    <p:sldId xmlns:r="http://schemas.openxmlformats.org/officeDocument/2006/relationships" id="257" r:id="R7af574903ea74518"/>
    <p:sldId xmlns:r="http://schemas.openxmlformats.org/officeDocument/2006/relationships" id="258" r:id="Rb08cf9d540274906"/>
    <p:sldId xmlns:r="http://schemas.openxmlformats.org/officeDocument/2006/relationships" id="259" r:id="R84d51e4b4a624329"/>
    <p:sldId xmlns:r="http://schemas.openxmlformats.org/officeDocument/2006/relationships" id="260" r:id="R60a46e19c9024bac"/>
    <p:sldId xmlns:r="http://schemas.openxmlformats.org/officeDocument/2006/relationships" id="261" r:id="Re789688fc7a3467a"/>
    <p:sldId xmlns:r="http://schemas.openxmlformats.org/officeDocument/2006/relationships" id="262" r:id="R1cfeb14e9645452c"/>
    <p:sldId xmlns:r="http://schemas.openxmlformats.org/officeDocument/2006/relationships" id="263" r:id="R0e3d38e7a10e4187"/>
    <p:sldId xmlns:r="http://schemas.openxmlformats.org/officeDocument/2006/relationships" id="264" r:id="R0f4935972fff47d6"/>
    <p:sldId xmlns:r="http://schemas.openxmlformats.org/officeDocument/2006/relationships" id="265" r:id="Ra918764321854b45"/>
    <p:sldId xmlns:r="http://schemas.openxmlformats.org/officeDocument/2006/relationships" id="266" r:id="Rf4c2cbe7ea004f48"/>
    <p:sldId xmlns:r="http://schemas.openxmlformats.org/officeDocument/2006/relationships" id="267" r:id="R63a1dba992b64887"/>
    <p:sldId xmlns:r="http://schemas.openxmlformats.org/officeDocument/2006/relationships" id="268" r:id="R75a6e746de494929"/>
    <p:sldId xmlns:r="http://schemas.openxmlformats.org/officeDocument/2006/relationships" id="269" r:id="R9baa640129234584"/>
    <p:sldId xmlns:r="http://schemas.openxmlformats.org/officeDocument/2006/relationships" id="270" r:id="R878f685f499c448f"/>
    <p:sldId xmlns:r="http://schemas.openxmlformats.org/officeDocument/2006/relationships" id="271" r:id="R8297bd91c6264765"/>
    <p:sldId xmlns:r="http://schemas.openxmlformats.org/officeDocument/2006/relationships" id="272" r:id="Rc510d949da684911"/>
    <p:sldId xmlns:r="http://schemas.openxmlformats.org/officeDocument/2006/relationships" id="273" r:id="R9ed60eedcf9d4cad"/>
    <p:sldId xmlns:r="http://schemas.openxmlformats.org/officeDocument/2006/relationships" id="274" r:id="R91892f68acef49e7"/>
    <p:sldId xmlns:r="http://schemas.openxmlformats.org/officeDocument/2006/relationships" id="275" r:id="R9d934267b24d4e5c"/>
    <p:sldId xmlns:r="http://schemas.openxmlformats.org/officeDocument/2006/relationships" id="276" r:id="R0092bff0b59c4955"/>
    <p:sldId xmlns:r="http://schemas.openxmlformats.org/officeDocument/2006/relationships" id="277" r:id="R231b2fd5ed874927"/>
    <p:sldId xmlns:r="http://schemas.openxmlformats.org/officeDocument/2006/relationships" id="278" r:id="Raa3a76f2ab764f7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a32c5051684132" /><Relationship Type="http://schemas.openxmlformats.org/officeDocument/2006/relationships/slideMaster" Target="/ppt/slideMasters/slideMaster1.xml" Id="Ree7d1f75ddc74091" /><Relationship Type="http://schemas.openxmlformats.org/officeDocument/2006/relationships/notesMaster" Target="/ppt/notesMasters/notesMaster1.xml" Id="Rd9b5c46f47d943d7" /><Relationship Type="http://schemas.openxmlformats.org/officeDocument/2006/relationships/presProps" Target="/ppt/presProps.xml" Id="Rae31bf8b3ecc4e2a" /><Relationship Type="http://schemas.openxmlformats.org/officeDocument/2006/relationships/tableStyles" Target="/ppt/tableStyles.xml" Id="Rd974da689cd149ae" /><Relationship Type="http://schemas.openxmlformats.org/officeDocument/2006/relationships/slide" Target="/ppt/slides/slide1.xml" Id="R403cd771827447d5" /><Relationship Type="http://schemas.openxmlformats.org/officeDocument/2006/relationships/slide" Target="/ppt/slides/slide2.xml" Id="R7af574903ea74518" /><Relationship Type="http://schemas.openxmlformats.org/officeDocument/2006/relationships/slide" Target="/ppt/slides/slide3.xml" Id="Rb08cf9d540274906" /><Relationship Type="http://schemas.openxmlformats.org/officeDocument/2006/relationships/slide" Target="/ppt/slides/slide4.xml" Id="R84d51e4b4a624329" /><Relationship Type="http://schemas.openxmlformats.org/officeDocument/2006/relationships/slide" Target="/ppt/slides/slide5.xml" Id="R60a46e19c9024bac" /><Relationship Type="http://schemas.openxmlformats.org/officeDocument/2006/relationships/slide" Target="/ppt/slides/slide6.xml" Id="Re789688fc7a3467a" /><Relationship Type="http://schemas.openxmlformats.org/officeDocument/2006/relationships/slide" Target="/ppt/slides/slide7.xml" Id="R1cfeb14e9645452c" /><Relationship Type="http://schemas.openxmlformats.org/officeDocument/2006/relationships/slide" Target="/ppt/slides/slide8.xml" Id="R0e3d38e7a10e4187" /><Relationship Type="http://schemas.openxmlformats.org/officeDocument/2006/relationships/slide" Target="/ppt/slides/slide9.xml" Id="R0f4935972fff47d6" /><Relationship Type="http://schemas.openxmlformats.org/officeDocument/2006/relationships/slide" Target="/ppt/slides/slide10.xml" Id="Ra918764321854b45" /><Relationship Type="http://schemas.openxmlformats.org/officeDocument/2006/relationships/slide" Target="/ppt/slides/slide11.xml" Id="Rf4c2cbe7ea004f48" /><Relationship Type="http://schemas.openxmlformats.org/officeDocument/2006/relationships/slide" Target="/ppt/slides/slide12.xml" Id="R63a1dba992b64887" /><Relationship Type="http://schemas.openxmlformats.org/officeDocument/2006/relationships/slide" Target="/ppt/slides/slide13.xml" Id="R75a6e746de494929" /><Relationship Type="http://schemas.openxmlformats.org/officeDocument/2006/relationships/slide" Target="/ppt/slides/slide14.xml" Id="R9baa640129234584" /><Relationship Type="http://schemas.openxmlformats.org/officeDocument/2006/relationships/slide" Target="/ppt/slides/slide15.xml" Id="R878f685f499c448f" /><Relationship Type="http://schemas.openxmlformats.org/officeDocument/2006/relationships/slide" Target="/ppt/slides/slide16.xml" Id="R8297bd91c6264765" /><Relationship Type="http://schemas.openxmlformats.org/officeDocument/2006/relationships/slide" Target="/ppt/slides/slide17.xml" Id="Rc510d949da684911" /><Relationship Type="http://schemas.openxmlformats.org/officeDocument/2006/relationships/slide" Target="/ppt/slides/slide18.xml" Id="R9ed60eedcf9d4cad" /><Relationship Type="http://schemas.openxmlformats.org/officeDocument/2006/relationships/slide" Target="/ppt/slides/slide19.xml" Id="R91892f68acef49e7" /><Relationship Type="http://schemas.openxmlformats.org/officeDocument/2006/relationships/slide" Target="/ppt/slides/slide20.xml" Id="R9d934267b24d4e5c" /><Relationship Type="http://schemas.openxmlformats.org/officeDocument/2006/relationships/slide" Target="/ppt/slides/slide21.xml" Id="R0092bff0b59c4955" /><Relationship Type="http://schemas.openxmlformats.org/officeDocument/2006/relationships/slide" Target="/ppt/slides/slide22.xml" Id="R231b2fd5ed874927" /><Relationship Type="http://schemas.openxmlformats.org/officeDocument/2006/relationships/slide" Target="/ppt/slides/slide23.xml" Id="Raa3a76f2ab764f7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fef0fce818d49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68763f1cef4793" /><Relationship Type="http://schemas.openxmlformats.org/officeDocument/2006/relationships/notesMaster" Target="/ppt/notesMasters/notesMaster1.xml" Id="Rddd497bba1b6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da16b4ae6a54697" /><Relationship Type="http://schemas.openxmlformats.org/officeDocument/2006/relationships/notesMaster" Target="/ppt/notesMasters/notesMaster1.xml" Id="R2f0c80b8401b465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d2072c22bef410c" /><Relationship Type="http://schemas.openxmlformats.org/officeDocument/2006/relationships/notesMaster" Target="/ppt/notesMasters/notesMaster1.xml" Id="R189e4b0c5a944b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991ddaca214b99" /><Relationship Type="http://schemas.openxmlformats.org/officeDocument/2006/relationships/notesMaster" Target="/ppt/notesMasters/notesMaster1.xml" Id="R15d7a7a46c4746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2b53bf06ec40b9" /><Relationship Type="http://schemas.openxmlformats.org/officeDocument/2006/relationships/notesMaster" Target="/ppt/notesMasters/notesMaster1.xml" Id="R0e0229badbdc4d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ed188f07094073" /><Relationship Type="http://schemas.openxmlformats.org/officeDocument/2006/relationships/notesMaster" Target="/ppt/notesMasters/notesMaster1.xml" Id="R3467ce21d46646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67aea096b54e9b" /><Relationship Type="http://schemas.openxmlformats.org/officeDocument/2006/relationships/notesMaster" Target="/ppt/notesMasters/notesMaster1.xml" Id="R8ecd16c3e3eb45e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3220b4e1b54c3a" /><Relationship Type="http://schemas.openxmlformats.org/officeDocument/2006/relationships/notesMaster" Target="/ppt/notesMasters/notesMaster1.xml" Id="R0d1ac676fb0e4c7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dd55dae3cb4425" /><Relationship Type="http://schemas.openxmlformats.org/officeDocument/2006/relationships/notesMaster" Target="/ppt/notesMasters/notesMaster1.xml" Id="R27f5ce9477124c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0ca41c95c204845" /><Relationship Type="http://schemas.openxmlformats.org/officeDocument/2006/relationships/notesMaster" Target="/ppt/notesMasters/notesMaster1.xml" Id="R76e8a7dfe53142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ca9a19ebc84fb4" /><Relationship Type="http://schemas.openxmlformats.org/officeDocument/2006/relationships/notesMaster" Target="/ppt/notesMasters/notesMaster1.xml" Id="Rbd21fc6e24ce4d3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fe47eeec254068" /><Relationship Type="http://schemas.openxmlformats.org/officeDocument/2006/relationships/notesMaster" Target="/ppt/notesMasters/notesMaster1.xml" Id="Rb56a950e80ce4b6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3c0fd60fe5d4409" /><Relationship Type="http://schemas.openxmlformats.org/officeDocument/2006/relationships/notesMaster" Target="/ppt/notesMasters/notesMaster1.xml" Id="Rbb3b3667b3ac4c7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8b6cbb27bd54dfc" /><Relationship Type="http://schemas.openxmlformats.org/officeDocument/2006/relationships/notesMaster" Target="/ppt/notesMasters/notesMaster1.xml" Id="Ra9b6665a685745d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1632c0d71fa4dfe" /><Relationship Type="http://schemas.openxmlformats.org/officeDocument/2006/relationships/notesMaster" Target="/ppt/notesMasters/notesMaster1.xml" Id="Rb999582e983f489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ee1a6b171144309" /><Relationship Type="http://schemas.openxmlformats.org/officeDocument/2006/relationships/notesMaster" Target="/ppt/notesMasters/notesMaster1.xml" Id="R015eb22c830347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64b5e254ac14291" /><Relationship Type="http://schemas.openxmlformats.org/officeDocument/2006/relationships/notesMaster" Target="/ppt/notesMasters/notesMaster1.xml" Id="R4fb55296b2ec4f0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9d0687836c4180" /><Relationship Type="http://schemas.openxmlformats.org/officeDocument/2006/relationships/notesMaster" Target="/ppt/notesMasters/notesMaster1.xml" Id="R74cf3f117d0842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d5ce6c5ca64776" /><Relationship Type="http://schemas.openxmlformats.org/officeDocument/2006/relationships/notesMaster" Target="/ppt/notesMasters/notesMaster1.xml" Id="R3326dfb91f9c4bf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23f4768fb974400" /><Relationship Type="http://schemas.openxmlformats.org/officeDocument/2006/relationships/notesMaster" Target="/ppt/notesMasters/notesMaster1.xml" Id="Rf15b0c0d4e4b4c2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44b1043ad194d30" /><Relationship Type="http://schemas.openxmlformats.org/officeDocument/2006/relationships/notesMaster" Target="/ppt/notesMasters/notesMaster1.xml" Id="R73b58f3ce29c4dc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147adde3bf04650" /><Relationship Type="http://schemas.openxmlformats.org/officeDocument/2006/relationships/notesMaster" Target="/ppt/notesMasters/notesMaster1.xml" Id="R3d5e881e2acf477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1d0f7ce841d4ce5" /><Relationship Type="http://schemas.openxmlformats.org/officeDocument/2006/relationships/notesMaster" Target="/ppt/notesMasters/notesMaster1.xml" Id="R572b0e466ae743c8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讲者：A；预算：0.5分钟。
【讲述】
大家好，我们今天想从《末代皇帝》里一个反复出现的动作讲起：奔跑。溥仪身边总有人服侍，也有许多人服从他，但当他真正想追上一个人、走出一道门时，事情却往往由不得他。我们选了几段追逐、离开和重返的场景，先看人物怎样被放进宫殿，再听声音怎样表现他的处境。按讲义的欣赏顺序，我们会简单交代故事和人物，把主要时间留给具体片段。先从片头的音乐开始。
【排练备忘，不朗读】
【来源】
本地课程讲义：归档中《电影音乐（第三部分）》PDF第25—39、55—57页；文本入口：整理资料/文字提取/电影音乐（第三部分）.md。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讲者：A；预算：2分钟。
【讲述】
先请大家听35秒，不急着辨认具体乐器。听的时候，可以留意：哪些声音一直重复，哪些声音后来才加入？你想到的是开阔的空间，还是比较封闭的空间？【播放后】请一两位同学说说。接着看这幅片头画面：知道电影讲的是皇帝以后，我们对同一段音乐的理解可能也会变化。这就引出了我们准备时的一个疑问：所谓“故宫音色”，究竟是声音本身的特点，还是声音与宫殿画面共同带来的联想？这一段Main Title Theme的作者是David Byrne，后面也会介绍另外两位作曲者。
【排练备忘，不朗读】
播放音频_10，35秒；收集1—2个回答约40秒。乐器名未核实，不预设。
【来源】
Apple Music, Main Title Theme, David Byrne. https://music.apple.com/us/song/714659406
Jonathan Broxton (2017-11-30), The Last Emperor. https://moviemusicuk.us/2017/11/30/the-last-emperor-ryuichi-sakamoto-david-byrne-and-cong-su/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讲者：A；预算：1.5分钟。
【讲述】
先用这一页交代故事。影片从1950年被囚的溥仪开始，通过回忆讲述他的前半生。小时候，他在宫里被当作皇帝对待，对外面的世界却知道得很少。离开紫禁城以后，他仍想恢复帝位，后来依靠日本势力，成为伪满洲国的傀儡皇帝。战后被囚、接受改造，最后成为普通公民。片名中的“末代”，既标明了帝制结束的位置，也把一个问题留给观众：当皇帝这个身份消失以后，这个人怎样生活？我们选的几个片段，就放在这条变化里看。
【排练备忘，不朗读】
【来源】
Criterion, The Last Emperor film and edition information. https://www.criterion.com/films/254
本地课程讲义：归档中《电影音乐（第三部分）》PDF第25—39、55—57页；文本入口：整理资料/文字提取/电影音乐（第三部分）.md。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讲者：A；预算：1.5分钟。
【讲述】
《末代皇帝》的原创配乐由坂本龙一、David Byrne和苏聪共同署名。坂本龙一有YMO的电子音乐经历，但这次创作并不只是合成器的使用。他在访谈里回忆，自己先作为演员参加拍摄，后来才受邀配乐，还在东京寻找中国音乐家录音。所以，思路文件里说的“东方管弦与电子合成器的碰撞”，可以具体化为一个创作问题：不同乐器、电子音色和管弦乐怎样被组织在一起？三位作曲者的经历帮助我们理解这种声音面貌。下面回到刚才的“中国感”。
【排练备忘，不朗读】
作曲者与作品署名依据访谈及原声资料。不得把全部配乐归于一人。
【来源】
Hillary Weston (2017-06-01), Sonic Memories: A Conversation with Ryuichi Sakamoto. https://www.criterion.com/current/posts/4625-sonic-memories-a-conversation-with-ryuichi-sakamoto
Diva Vélez (2016-07-31), Japan Cuts 2016 Interview. https://screenanarchy.com/2016/07/japan-cuts-2016-interview-nagasaki-memories-of-my-son-composer-sakamoto-ryuichi-on-oshima-and-bertol.html
Academy of Motion Picture Arts and Sciences, 1988 ceremony. https://www.oscars.org/oscars/ceremonies/1988/B
Jonathan Broxton (2017-11-30), The Last Emperor. https://moviemusicuk.us/2017/11/30/the-last-emperor-ryuichi-sakamoto-david-byrne-and-cong-su/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讲者：A；预算：1.5分钟。
【讲述】
如果把刚才的音乐放在另一种画面上，我们还会想到故宫吗？这个问题可以从两边来听。一边是声音：起音是清脆的还是柔和的，旋律怎样移动，背景是持续铺开还是一下一下推进。另一边是画面：红墙、宫门、服饰已经给出了很强的文化提示。两边结合以后，观众更容易形成“中国宫廷”的联想。我们准备时很想问清楚“故宫音色”这个说法，最后觉得，先把这些听得见、看得见的特点说出来，比直接给它一个宏大或孤寂的标签更有帮助。接下来，我们先看宫殿怎样容纳人物。
【排练备忘，不朗读】
“故宫感”是准备文件中的问题，不是已证实的历史音乐类型；不将音色听感冒充乐器识别。
【来源】
Hillary Weston (2017-06-01), Sonic Memories: A Conversation with Ryuichi Sakamoto. https://www.criterion.com/current/posts/4625-sonic-memories-a-conversation-with-ryuichi-sakamoto
Jonathan Broxton (2017-11-30), The Last Emperor. https://moviemusicuk.us/2017/11/30/the-last-emperor-ryuichi-sakamoto-david-byrne-and-cong-su/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讲者：A；预算：1.7分钟。
【讲述】
这三张画面都把人物放在宫城空间里，但进入其中的方式已经改变。早期有队伍和礼仪秩序，后来汽车、自行车进入宫门，晚年的溥仪则重新走向昔日的宫殿。我们可以先注意一个稳定的东西：建筑的尺度。再看变化的东西：谁能够进入、以什么身份进入、怎样移动。这样比较，剧情变化就不只靠年份和台词来交代，也呈现在人和建筑的关系里。三张画面的机位并不完全相同，我们主要比较这种空间关系。
【排练备忘，不朗读】
三张静帧不是同一机位的严格复现。
【来源】
David Thomson (2009-01-06), The Last Emperor, or The Manchurian Candidate. https://www.criterion.com/current/posts/556-the-last-emperor-or-the-manchurian-candidate
Vittorio Storaro (2017-12-07), Lisbon masterclass, PDF pp.10-11. https://www.academiadecinema.pt/wp-content/uploads/2018/04/MASTERCLASS-VITTORIO-STORARO-English_text.pdf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讲者：A；预算：1.2分钟。
【讲述】
这幅远景里，人物所占的位置很小。我们能看见他在移动，同时也一直看见包围他的庭院和宫殿。个人动作与建筑尺度之间的反差，是这组画面很直接的特点。“皇帝”听起来意味着很大的权力，画面却让我们看到一个具体的人，以及他面对的空间。接下来播放追阿嬷的片段。我们可以一边看镜头怎样从人物的动作切到远景，一边听台词、音乐和环境声怎样安排这段追逐。
【排练备忘，不朗读】
【来源】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讲者：A；预算：3.1分钟。
【讲述】
乳母阿嬷被送走，年幼的溥仪想追上她。先请大家看这90秒，留意镜头距离，也留意声音。【播放后】如果请你选一个最让人觉得“追不上”的细节，你会选什么？是他的动作，是远景里很小的身影，还是某一处人声或音乐的变化？画面给我们的一个线索是：他一直在跑，宫城的尺度却一直在。按讲义的声画关系分析，我们还可以继续问，音乐是在节奏和情绪上加强奔跑，还是保留了自己的展开？先听清具体变化，再判断它怎样表现孩子的焦急和失落。
【排练备忘，不朗读】
播放05，90秒；问答约20秒。精确音乐起止及音画关系待回听，正文保持开放问题。
【来源】
Diana (2019-08-23), 《末代皇帝》有哪些亮点和记忆点？ https://movie.douban.com/review/10433522/
coeurpourtoi (2018-10-27), 奔跑. SEARCH EXCERPT ONLY. https://movie.douban.com/review/9727812/
Jonathan Broxton (2017-11-30), The Last Emperor. https://moviemusicuk.us/2017/11/30/the-last-emperor-ryuichi-sakamoto-david-byrne-and-cong-su/
本地课程讲义：归档中《电影音乐（第三部分）》PDF第25—39、55—57页；文本入口：整理资料/文字提取/电影音乐（第三部分）.md。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讲者：A；预算：2.8分钟。
【讲述】
下面把这个片段与成年溥仪追婉容放在一起。婉容被送走，他追出，仍要向别人要求开门。【播放后】两个片段都出现离开、追逐和受阻，隔着很长的人生经历，动作却形成了呼应。请大家再比较声音：哪一处推动动作继续，哪一处让等待变得突出？这样的比较，使我们看见成年溥仪与童年的联系，也看见差别。小时候他很难理解周围的安排，成年以后，他自己的政治和私人选择也参与形成了眼前的局面。从这里开始，人物的处境和人物的责任需要一起考虑。
【排练备忘，不朗读】
播放10，70秒。两段追逐未确认同曲，不据动作相似宣称音乐相同。
【来源】
Diana (2019-08-23), 《末代皇帝》有哪些亮点和记忆点？ https://movie.douban.com/review/10433522/
James Berardinelli, Last Emperor, The. https://www.reelviews.net/reelviews/last-emperor-the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讲者：B；预算：2.8分钟。
【讲述】
如果只看前两段，我们可能会觉得，片中所有移动都通向受阻。文绣的离开让这个解释发生了变化。她提出离婚，走进雨里，也拒绝了递来的伞。【播放后】同样是离开，这一次她走了出去。大家可以从雨声、音乐的速度和力度、身体动作中，找一个最能说明这种差别的细节。如果你觉得这一段有释放感，具体是什么带来了这种感觉？这也可以联系讲义里的音画同步：声音和画面是否在情绪、节奏上互相加强？接下来我们再把“能移动”和“能决定自己的生活”放在一起看。
【排练备忘，不朗读】
播放09，65秒。音画同步为现场检验的问题，尚未完成听觉定性；不把雨声当作Rain配乐。
【来源】
Hillary Weston (2017-06-01), Sonic Memories: A Conversation with Ryuichi Sakamoto. https://www.criterion.com/current/posts/4625-sonic-memories-a-conversation-with-ryuichi-sakamoto
谈谈末代皇帝为什么大获好评. SEARCH EXCERPT ONLY. https://movie.douban.com/review/12826936/
本地课程讲义：归档中《电影音乐（第三部分）》PDF第25—39、55—57页；文本入口：整理资料/文字提取/电影音乐（第三部分）.md。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讲者：B；预算：1.4分钟。
【讲述】
自行车把一种新的生活方式带进了宫城。人物可以移动得更快，画面里也多了活力。但速度改变以后，他能不能自己决定去哪里？请大家看宫门、人物停下的位置，以及决定能否通行的是谁。Ebert的评论特别注意到出宫受阻的反讽。结合刚才文绣的离开，我们可以把问题说得更具体：身体能够移动到哪里，和一个人能够选择怎样的生活，有时相差很远。空间关系之外，影片还用颜色来表现这些生活阶段。下面交给B，从色彩继续。
【排练备忘，不朗读】
可选播放07；A转交B。
【来源】
Roger Ebert (1987-12-09), The Last Emperor. https://www.rogerebert.com/reviews/the-last-emperor-1987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讲者：B；预算：1.8分钟。
【讲述】
刚才A讲了人物怎样穿行在宫城里，我接着看颜色。摄影师Vittorio Storaro在创作自述中，谈到用颜色联系人生阶段，也举过绿色汽车和自行车的例子。我们看这些物件时，既能看到颜色，也能看到它们带来的外部生活。联系音乐时，可以比较两者的变化：画面由什么转向什么，声音的疏密、力度或音色有没有相应改变。这里的“音乐色彩”是一种形容声音质感的说法。它帮助我们描述感受，具体分析仍要落在画面和声音的变化上。
【排练备忘，不朗读】
HDR转SDR截图不能用于精确色值分析；摄影师颜色解释不是固定解码表。
【来源】
Vittorio Storaro (2017-12-07), Lisbon masterclass, PDF pp.10-11. https://www.academiadecinema.pt/wp-content/uploads/2018/04/MASTERCLASS-VITTORIO-STORARO-English_text.pdf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讲者：B；预算：2.1分钟。
【讲述】
影片没有按年龄从小到大顺着讲，而是不断从囚禁生活进入回忆。这一段从成年溥仪转向童年，我们先看45秒。【播放后】请先指出画面在哪儿发生时间变化，再听声音是在剪辑点改变，还是继续了一段。讲义把连接不同镜头、场面的音乐称为过渡音乐或连贯音乐，它能够帮助观众在心理上接上画面。声音跨过剪辑也是我们分析转场的一条线索。这就能回答思路里“同一段音乐怎么可能出现在不同年代”的疑问：影片可以用音乐组织回忆，观众听到的声音未必来自人物当时所在的现场。
【排练备忘，不朗读】
播放02，45秒；标记剪辑前后实际声源，再决定是否为过渡音乐或其他声音桥。
【来源】
Vittorio Storaro (2017-12-07), Lisbon masterclass, PDF pp.10-11. https://www.academiadecinema.pt/wp-content/uploads/2018/04/MASTERCLASS-VITTORIO-STORARO-English_text.pdf
本地课程讲义：归档中《电影音乐（第三部分）》PDF第25—39、55—57页；文本入口：整理资料/文字提取/电影音乐（第三部分）.md。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讲者：B；预算：1.7分钟。
【讲述】
这一页用讲义的几个词，把刚才的问题整理一下。第一，现实性音乐，也叫有源音乐，它来自场景中的声源；功能性音乐，也叫无源音乐，参与影片的叙述表达。判断时要看声音与故事空间的关系，乐器没有出现在镜头里，也可能只是声源在画外。第二，过渡音乐讲的是音乐怎样连接镜头或场面；更广义的声音桥还可以使用台词和音响。第三，讲义把静默解释为声音停顿产生的艺术效果。分析时，要说明是音乐退下了，还是人声、音响也发生了停顿。把这几个问题分开，转场就更容易说清楚。
【排练备忘，不朗读】
讲义第25—27页；声音桥为补充概念。无配乐不等于全部静默。可选11，枪声归属未核实。
【来源】
本地课程讲义：归档中《电影音乐（第三部分）》PDF第25—39、55—57页；文本入口：整理资料/文字提取/电影音乐（第三部分）.md。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讲者：B；预算：2.2分钟。
【讲述】
讲义介绍主题音乐时，提到变奏、延展和紧缩等发展手法。下面用原声专辑里的Theme Variation 2和Theme做一次比较，分别听30秒和35秒。【播放后】大家先找相似的旋律走向或节奏，再说哪一段更疏朗、哪一段更紧张，这种感觉来自哪些声音。对我们来说，变奏这个概念最有用的地方，是让比较有了顺序：先找到材料之间的联系，再分析它怎样变化。这里比较的是两段专辑录音；它们在电影里出现的位置，仍要回到影片逐段核对。
【排练备忘，不朗读】
音频08为30秒，09为35秒；比较限专辑录音，不能直接证明影片cue的版本、先后或位置。
【来源】
Jonathan Broxton (2017-11-30), The Last Emperor. https://moviemusicuk.us/2017/11/30/the-last-emperor-ryuichi-sakamoto-david-byrne-and-cong-su/
本地课程讲义：归档中《电影音乐（第三部分）》PDF第25—39、55—57页；文本入口：整理资料/文字提取/电影音乐（第三部分）.md。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讲者：B；预算：1.8分钟。
【讲述】
我们参考的评论对影片并没有一致看法。Ebert关注人物的行动怎样受到限制；Thomson提醒我们留意宏大场面中的日常细节；Kempley则对华丽形式能否带来足够的戏剧张力提出了批评。这些分歧让我们重新看前面的片段：当画面很壮观、人物又显得很小的时候，我们是更理解了他，还是更容易同情他？这种同情会不会影响我们对他后来选择的判断？带着这个问题，我们看最后一段：他回到故宫，再次面对曾经的龙椅。
【排练备忘，不朗读】
引述均为有归属的观点，不代表评论共识。
【来源】
Roger Ebert (1987-12-09), The Last Emperor. https://www.rogerebert.com/reviews/the-last-emperor-1987
David Thomson (2009-01-06), The Last Emperor, or The Manchurian Candidate. https://www.criterion.com/current/posts/556-the-last-emperor-or-the-manchurian-candidate
Rita Kempley (1987-12-17), The Last Emperor China Dull. https://www.washingtonpost.com/archive/lifestyle/1987/12/18/the-last-emperor-china-dull/a568b18d-564b-4ee2-a92d-9071cdda2546/
James Berardinelli, Last Emperor, The. https://www.reelviews.net/reelviews/last-emperor-the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讲者：B；预算：2.8分钟。
【讲述】
晚年的溥仪回到已经开放的故宫，向孩子解释自己曾经是皇帝。请大家看这段对话，也听听结尾把注意力带向哪里。【播放后】回到开头的宫殿远景，同一座宫城还在，他与它的关系已经改变。从前，皇帝身份由周围的礼仪和秩序不断确认；现在，他需要向一个孩子说明自己的过去。龙椅旁的小物件把这段记忆重新带回来。这个结尾可以让人感到亲近，也可能带来失落。我们可以保留不同感受，再从具体画面和声音解释它们。
【排练备忘，不朗读】
播放13，92秒；不把蝈蝈情节当历史证据。
【来源】
Roger Ebert (1987-12-09), The Last Emperor. https://www.rogerebert.com/reviews/the-last-emperor-1987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讲者：A；预算：1.3分钟。
【讲述】
最后回到我们的主问题：声音怎样参与人物叙事？我们先从远景、宫门和人物动作看见行动的限制，再用追阿嬷、追婉容与文绣离开比较不同处境。音乐的情绪、节奏，以及它与台词和音响的关系，让这些动作带给观众不同的感受。按讲义的欣赏方法，情感体验是很重要的一步；继续分析时，我们还可以追问，这种体验由什么具体变化带来。这样回看片中的奔跑，我们既看人物有没有走出去，也看他能否决定自己的方向。下面想请大家用一个片段，说说自己的判断。
【排练备忘，不朗读】
【来源】
本地课程讲义：归档中《电影音乐（第三部分）》PDF第25—39、55—57页；文本入口：整理资料/文字提取/电影音乐（第三部分）.md。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讲者：AB；预算：3分钟。
【讲述】
请大家先用十几秒想一想：今天哪一个片段最影响你对人物的理解？可以只说一个画面细节，再加一个声音细节。例如人物在画面中的大小、一句台词的位置、一次音乐变化。我们请两三位同学分享。如果感受不同，也可以比较各自注意到的细节。我们的展示就到这里，谢谢大家。
【排练备忘，不朗读】
等待约15秒，邀请2—3人；无人回答可回放05末尾20秒。留足教师追问时间。
【来源】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讲者：AB；预算：0.2分钟。
【讲述】
这里列出主要创作者访谈、影评与配乐评论，完整链接见配套来源表。有关课程概念的表述，以课堂讲义为主要参照。
【排练备忘，不朗读】
本地原片约162分54秒，时间码仅适用于该资源。
【来源】
Hillary Weston (2017-06-01), Sonic Memories: A Conversation with Ryuichi Sakamoto. https://www.criterion.com/current/posts/4625-sonic-memories-a-conversation-with-ryuichi-sakamoto
Vittorio Storaro (2017-12-07), Lisbon masterclass, PDF pp.10-11. https://www.academiadecinema.pt/wp-content/uploads/2018/04/MASTERCLASS-VITTORIO-STORARO-English_text.pdf
Roger Ebert (1987-12-09), The Last Emperor. https://www.rogerebert.com/reviews/the-last-emperor-1987
David Thomson (2009-01-06), The Last Emperor, or The Manchurian Candidate. https://www.criterion.com/current/posts/556-the-last-emperor-or-the-manchurian-candidate
Jonathan Broxton (2017-11-30), The Last Emperor. https://moviemusicuk.us/2017/11/30/the-last-emperor-ryuichi-sakamoto-david-byrne-and-cong-su/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讲者：AB；预算：0.2分钟。
【讲述】
我们也参考了豆瓣评论和不同立场的影评。各篇的阅读范围、适用版本和采用方式，已在配套资料中标明。
【排练备忘，不朗读】
部分豆瓣材料只读到搜索摘录；Oliver Stone评论较长版本，不能用于当前选段定性。
【来源】
Diana (2019-08-23), 《末代皇帝》有哪些亮点和记忆点？ https://movie.douban.com/review/10433522/
Rita Kempley (1987-12-17), The Last Emperor China Dull. https://www.washingtonpost.com/archive/lifestyle/1987/12/18/the-last-emperor-china-dull/a568b18d-564b-4ee2-a92d-9071cdda2546/
James Berardinelli, Last Emperor, The. https://www.reelviews.net/reelviews/last-emperor-the
Oliver Stone (1998), An Epic That Gets Better as It Gets Longer, official archive reprint. https://bernardobertolucci.org/diary/oliver-stone-sullultimo-imperatore/?lang=en
本地课程讲义：归档中《电影音乐（第三部分）》PDF第25—39、55—57页；文本入口：整理资料/文字提取/电影音乐（第三部分）.md。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讲者：AB；预算：0分钟。
【讲述】
这一页保留童年奔跑、自行车、枪声附近转场和重访远景的片段入口。答疑时可按问题选择回放。
【排练备忘，不朗读】
备用，不计入主讲预算。
【来源】
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>
            <a:r>
              <a:rPr lang="zh-CN"/>
              <a:t>讲者：AB；预算：0分钟。
【讲述】
如果进一步讨论，我们会回到这些具体问题：同步发生在哪一层，主题音乐有什么可辨认的联系，哪一种声音停下了，以及影片怎样选择人物的经历来讲述。
【排练备忘，不朗读】
备用。具体乐器、调式、cue起止未经确认时说明尚未核实。
【来源】
本地课程讲义：归档中《电影音乐（第三部分）》PDF第25—39、55—57页；文本入口：整理资料/文字提取/电影音乐（第三部分）.md。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feec62abe54d5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95af3a6b3e41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8aa4e753f4e6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a86b2bec754b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db05311a8147e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13bb89a0741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524485-169F-439E-BB05-C78D483252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BE0EFFE-37CC-41AE-A872-4D7361DE37C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23DA7A6-D9D8-4C6A-81AD-BE3382EF70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C2D1015-AA7C-4398-B354-CD708E30CF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80CB218-5478-485D-8E42-5484C44724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18374FD-7A74-4857-B07F-E03A62D1C2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2ACF1C-57BB-4CC2-A871-6673B377210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682B85-E72B-4281-BA66-046AF6EE071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BD1444-E6FC-4E71-B687-5AC11BECE6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DB7B2E5-B439-493E-A53E-4FD91F7F14C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7787628e0b4349" /><Relationship Type="http://schemas.openxmlformats.org/officeDocument/2006/relationships/slideLayout" Target="/ppt/slideLayouts/slideLayout1.xml" Id="R8a6d7451f63b4c3a" /><Relationship Type="http://schemas.openxmlformats.org/officeDocument/2006/relationships/slideLayout" Target="/ppt/slideLayouts/slideLayout2.xml" Id="R09f4d355247546af" /><Relationship Type="http://schemas.openxmlformats.org/officeDocument/2006/relationships/slideLayout" Target="/ppt/slideLayouts/slideLayout3.xml" Id="R02a07cab8be24e8a" /><Relationship Type="http://schemas.openxmlformats.org/officeDocument/2006/relationships/slideLayout" Target="/ppt/slideLayouts/slideLayout4.xml" Id="R5f74b9d93d5f49a7" /><Relationship Type="http://schemas.openxmlformats.org/officeDocument/2006/relationships/slideLayout" Target="/ppt/slideLayouts/slideLayout5.xml" Id="R7b964fbb5255491e" /><Relationship Type="http://schemas.openxmlformats.org/officeDocument/2006/relationships/slideLayout" Target="/ppt/slideLayouts/slideLayout6.xml" Id="Rd63f6d2ad50545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6d7451f63b4c3a"/>
    <p:sldLayoutId xmlns:r="http://schemas.openxmlformats.org/officeDocument/2006/relationships" id="2147483650" r:id="R09f4d355247546af"/>
    <p:sldLayoutId xmlns:r="http://schemas.openxmlformats.org/officeDocument/2006/relationships" id="2147483651" r:id="R02a07cab8be24e8a"/>
    <p:sldLayoutId xmlns:r="http://schemas.openxmlformats.org/officeDocument/2006/relationships" id="2147483652" r:id="R5f74b9d93d5f49a7"/>
    <p:sldLayoutId xmlns:r="http://schemas.openxmlformats.org/officeDocument/2006/relationships" id="2147483653" r:id="R7b964fbb5255491e"/>
    <p:sldLayoutId xmlns:r="http://schemas.openxmlformats.org/officeDocument/2006/relationships" id="2147483654" r:id="Rd63f6d2ad50545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9a2eab13c4950" /><Relationship Type="http://schemas.openxmlformats.org/officeDocument/2006/relationships/image" Target="/ppt/media/image.jpeg" Id="R6047f3cc6e014e80" /><Relationship Type="http://schemas.openxmlformats.org/officeDocument/2006/relationships/notesSlide" Target="/ppt/notesSlides/notesSlide1.xml" Id="R6242f11bb47447dd" 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cc3d4a0251c94b31" /><ns0:Relationship Type="http://schemas.openxmlformats.org/officeDocument/2006/relationships/image" Target="/ppt/media/image2.jpeg" Id="R0404c2fbf8d54b35" /><ns0:Relationship Type="http://schemas.openxmlformats.org/officeDocument/2006/relationships/notesSlide" Target="/ppt/notesSlides/notesSlide2.xml" Id="R72e3a6af2fef410c" /><ns0:Relationship Id="rIdMediaFile1" Type="http://schemas.openxmlformats.org/officeDocument/2006/relationships/audio" Target="../media/embedded1.m4a" /><ns0:Relationship Id="rIdOfficeMedia1" Type="http://schemas.microsoft.com/office/2007/relationships/media" Target="../media/embedded1.m4a" /></ns0: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ca5e2823864b05" /><Relationship Type="http://schemas.openxmlformats.org/officeDocument/2006/relationships/image" Target="/ppt/media/image3.jpeg" Id="R79dc45ff68754b38" /><Relationship Type="http://schemas.openxmlformats.org/officeDocument/2006/relationships/notesSlide" Target="/ppt/notesSlides/notesSlide3.xml" Id="R75db3b47ef93495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95456712a94a8a" /><Relationship Type="http://schemas.openxmlformats.org/officeDocument/2006/relationships/notesSlide" Target="/ppt/notesSlides/notesSlide4.xml" Id="Rd4afef45fddf4b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22e63ad8a4cbf" /><Relationship Type="http://schemas.openxmlformats.org/officeDocument/2006/relationships/notesSlide" Target="/ppt/notesSlides/notesSlide5.xml" Id="Ra67913a300bf4a6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c35a6378584bd2" /><Relationship Type="http://schemas.openxmlformats.org/officeDocument/2006/relationships/image" Target="/ppt/media/image4.jpeg" Id="R107e1e2fcebb4351" /><Relationship Type="http://schemas.openxmlformats.org/officeDocument/2006/relationships/image" Target="/ppt/media/image5.jpeg" Id="Re854c889a34241f4" /><Relationship Type="http://schemas.openxmlformats.org/officeDocument/2006/relationships/image" Target="/ppt/media/image6.jpeg" Id="Rff0775c8b967461c" /><Relationship Type="http://schemas.openxmlformats.org/officeDocument/2006/relationships/notesSlide" Target="/ppt/notesSlides/notesSlide6.xml" Id="Rd0d8855305c045f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913a9e811b408d" /><Relationship Type="http://schemas.openxmlformats.org/officeDocument/2006/relationships/image" Target="/ppt/media/image7.jpeg" Id="R5840283d0954483c" /><Relationship Type="http://schemas.openxmlformats.org/officeDocument/2006/relationships/notesSlide" Target="/ppt/notesSlides/notesSlide7.xml" Id="R31748d394603443c" /></Relationships>
</file>

<file path=ppt/slides/_rels/slide8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589177c905014b77" /><ns0:Relationship Type="http://schemas.openxmlformats.org/officeDocument/2006/relationships/image" Target="/ppt/media/image8.jpeg" Id="R31391b28aed34252" /><ns0:Relationship Type="http://schemas.openxmlformats.org/officeDocument/2006/relationships/notesSlide" Target="/ppt/notesSlides/notesSlide8.xml" Id="Rc161c94929f14936" /><ns0:Relationship Id="rIdMediaFile2" Type="http://schemas.openxmlformats.org/officeDocument/2006/relationships/video" Target="../media/embedded2.mp4" /><ns0:Relationship Id="rIdOfficeMedia2" Type="http://schemas.microsoft.com/office/2007/relationships/media" Target="../media/embedded2.mp4" /></ns0:Relationships>
</file>

<file path=ppt/slides/_rels/slide9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69e6994eaba4836" /><ns0:Relationship Type="http://schemas.openxmlformats.org/officeDocument/2006/relationships/image" Target="/ppt/media/image9.jpeg" Id="R9ebbecadb85d4001" /><ns0:Relationship Type="http://schemas.openxmlformats.org/officeDocument/2006/relationships/notesSlide" Target="/ppt/notesSlides/notesSlide9.xml" Id="Ra9003b2268974bb8" /><ns0:Relationship Id="rIdMediaFile3" Type="http://schemas.openxmlformats.org/officeDocument/2006/relationships/video" Target="../media/embedded3.mp4" /><ns0:Relationship Id="rIdOfficeMedia3" Type="http://schemas.microsoft.com/office/2007/relationships/media" Target="../media/embedded3.mp4" /></ns0:Relationships>
</file>

<file path=ppt/slides/_rels/slide10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4dfeeb160abc47bf" /><ns0:Relationship Type="http://schemas.openxmlformats.org/officeDocument/2006/relationships/image" Target="/ppt/media/image10.jpeg" Id="R4a5a2c5ff7e84d0b" /><ns0:Relationship Type="http://schemas.openxmlformats.org/officeDocument/2006/relationships/notesSlide" Target="/ppt/notesSlides/notesSlide10.xml" Id="R5a8ab0aa81d54efa" /><ns0:Relationship Id="rIdMediaFile4" Type="http://schemas.openxmlformats.org/officeDocument/2006/relationships/video" Target="../media/embedded4.mp4" /><ns0:Relationship Id="rIdOfficeMedia4" Type="http://schemas.microsoft.com/office/2007/relationships/media" Target="../media/embedded4.mp4" /></ns0: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3f494fa9be4b72" /><Relationship Type="http://schemas.openxmlformats.org/officeDocument/2006/relationships/image" Target="/ppt/media/image11.jpeg" Id="R5136d6f445a44c07" /><Relationship Type="http://schemas.openxmlformats.org/officeDocument/2006/relationships/image" Target="/ppt/media/image12.jpeg" Id="Rb56d696e399a4134" /><Relationship Type="http://schemas.openxmlformats.org/officeDocument/2006/relationships/notesSlide" Target="/ppt/notesSlides/notesSlide11.xml" Id="R1e0e01e90808450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44356442c34622" /><Relationship Type="http://schemas.openxmlformats.org/officeDocument/2006/relationships/image" Target="/ppt/media/image13.jpeg" Id="R9b435c7b53234752" /><Relationship Type="http://schemas.openxmlformats.org/officeDocument/2006/relationships/image" Target="/ppt/media/image14.jpeg" Id="Ra5ce673a97114ff9" /><Relationship Type="http://schemas.openxmlformats.org/officeDocument/2006/relationships/image" Target="/ppt/media/image15.jpeg" Id="Re41d4f46ab074eeb" /><Relationship Type="http://schemas.openxmlformats.org/officeDocument/2006/relationships/notesSlide" Target="/ppt/notesSlides/notesSlide12.xml" Id="R731d3c4bd1794bdd" /></Relationships>
</file>

<file path=ppt/slides/_rels/slide13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645cdf3bb2924a89" /><ns0:Relationship Type="http://schemas.openxmlformats.org/officeDocument/2006/relationships/image" Target="/ppt/media/image16.jpeg" Id="Rc69b0edf03994c80" /><ns0:Relationship Type="http://schemas.openxmlformats.org/officeDocument/2006/relationships/notesSlide" Target="/ppt/notesSlides/notesSlide13.xml" Id="R70b59a91457b496e" /><ns0:Relationship Id="rIdMediaFile5" Type="http://schemas.openxmlformats.org/officeDocument/2006/relationships/video" Target="../media/embedded5.mp4" /><ns0:Relationship Id="rIdOfficeMedia5" Type="http://schemas.microsoft.com/office/2007/relationships/media" Target="../media/embedded5.mp4" /></ns0: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eea7903f7674384" /><Relationship Type="http://schemas.openxmlformats.org/officeDocument/2006/relationships/notesSlide" Target="/ppt/notesSlides/notesSlide14.xml" Id="R4514fe380dfa4d31" /></Relationships>
</file>

<file path=ppt/slides/_rels/slide15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7dbc85b1d5b247cb" /><ns0:Relationship Type="http://schemas.openxmlformats.org/officeDocument/2006/relationships/image" Target="/ppt/media/image17.jpeg" Id="Raa8f2d4dedc34b3d" /><ns0:Relationship Type="http://schemas.openxmlformats.org/officeDocument/2006/relationships/image" Target="/ppt/media/image18.jpeg" Id="R543d100311da45b9" /><ns0:Relationship Type="http://schemas.openxmlformats.org/officeDocument/2006/relationships/notesSlide" Target="/ppt/notesSlides/notesSlide15.xml" Id="Rc91079057a58432a" /><ns0:Relationship Id="rIdMediaFile6" Type="http://schemas.openxmlformats.org/officeDocument/2006/relationships/audio" Target="../media/embedded6.m4a" /><ns0:Relationship Id="rIdOfficeMedia6" Type="http://schemas.microsoft.com/office/2007/relationships/media" Target="../media/embedded6.m4a" /><ns0:Relationship Id="rIdMediaFile7" Type="http://schemas.openxmlformats.org/officeDocument/2006/relationships/audio" Target="../media/embedded7.m4a" /><ns0:Relationship Id="rIdOfficeMedia7" Type="http://schemas.microsoft.com/office/2007/relationships/media" Target="../media/embedded7.m4a" /></ns0: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e259d0f8264523" /><Relationship Type="http://schemas.openxmlformats.org/officeDocument/2006/relationships/notesSlide" Target="/ppt/notesSlides/notesSlide16.xml" Id="R7a95009b869a4af4" /></Relationships>
</file>

<file path=ppt/slides/_rels/slide17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6.xml" Id="Rf160e34d6d534e9c" /><ns0:Relationship Type="http://schemas.openxmlformats.org/officeDocument/2006/relationships/image" Target="/ppt/media/image19.jpeg" Id="R1af4561065f3459a" /><ns0:Relationship Type="http://schemas.openxmlformats.org/officeDocument/2006/relationships/notesSlide" Target="/ppt/notesSlides/notesSlide17.xml" Id="R653dcd27899c47f8" /><ns0:Relationship Id="rIdMediaFile8" Type="http://schemas.openxmlformats.org/officeDocument/2006/relationships/video" Target="../media/embedded8.mp4" /><ns0:Relationship Id="rIdOfficeMedia8" Type="http://schemas.microsoft.com/office/2007/relationships/media" Target="../media/embedded8.mp4" /></ns0: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e63b2da9da40ce" /><Relationship Type="http://schemas.openxmlformats.org/officeDocument/2006/relationships/notesSlide" Target="/ppt/notesSlides/notesSlide18.xml" Id="Rc3fe3d596a20414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b0f16f4e3448a0" /><Relationship Type="http://schemas.openxmlformats.org/officeDocument/2006/relationships/notesSlide" Target="/ppt/notesSlides/notesSlide19.xml" Id="R920f2e3b90234fd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4f8be5e82b456e" /><Relationship Type="http://schemas.openxmlformats.org/officeDocument/2006/relationships/notesSlide" Target="/ppt/notesSlides/notesSlide20.xml" Id="R8dacd3b3f6054e9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813c68e51242f3" /><Relationship Type="http://schemas.openxmlformats.org/officeDocument/2006/relationships/notesSlide" Target="/ppt/notesSlides/notesSlide21.xml" Id="R0849a8fad9e8461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e02286346e4d2b" /><Relationship Type="http://schemas.openxmlformats.org/officeDocument/2006/relationships/notesSlide" Target="/ppt/notesSlides/notesSlide22.xml" Id="Rdb1e437236ad497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12456fa5f149ba" /><Relationship Type="http://schemas.openxmlformats.org/officeDocument/2006/relationships/notesSlide" Target="/ppt/notesSlides/notesSlide23.xml" Id="R087e92b5c46048b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453C98-A916-4206-A992-7D5DBAD6D50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47f3cc6e014e80"/>
          <a:stretch xmlns:a="http://schemas.openxmlformats.org/drawingml/2006/main"/>
        </p:blipFill>
        <p:spPr>
          <a:xfrm xmlns:a="http://schemas.openxmlformats.org/drawingml/2006/main">
            <a:off x="549088" y="0"/>
            <a:ext cx="11093824" cy="47148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7C06B8-B385-40E8-99BC-19351999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宫门之内的奔跑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9643B9-8454-426C-BEA1-A0F68508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53125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《末代皇帝》的声音与人物处境</a:t>
            </a:r>
          </a:p>
        </p:txBody>
      </p:sp>
    </p:spTree>
    <p:extLst>
      <p:ext uri="{BB962C8B-B14F-4D97-AF65-F5344CB8AC3E}">
        <p14:creationId xmlns:p14="http://schemas.microsoft.com/office/powerpoint/2010/main" val="671404612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6" name="">
            <a:extLst>
              <a:ext uri="{FF2B5EF4-FFF2-40B4-BE49-F238E27FC236}">
                <ns2:creationId id="{6C6190DF-686A-4EAB-A1DE-38E4F77A8ACB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先听片头：你想到了什么空间？</a:t>
            </a:r>
          </a:p>
        </p:txBody>
      </p:sp>
      <p:pic>
        <p:nvPicPr>
          <p:cNvPr id="2" name="MEDIA_1">
            <a:extLst>
              <a:ext uri="{FF2B5EF4-FFF2-40B4-BE49-F238E27FC236}">
                <ns2:creationId id="{B5D48101-805F-4C8B-96B3-5FC85F78CC88}"/>
              </a:ext>
            </a:extLst>
            <a:hlinkClick action="ppaction://media"/>
          </p:cNvPr>
          <p:cNvPicPr>
            <a:picLocks noChangeAspect="1"/>
          </p:cNvPicPr>
          <p:nvPr>
            <a:audioFile r:link="rIdMediaFile1"/>
            <p:extLst>
              <p:ext uri="{DAA4B4D4-5B9D-4661-A4F6-83A2F4AD3B91}">
                <p14:media r:embed="rIdOfficeMedia1"/>
              </p:ext>
            </p:extLst>
          </p:nvPr>
        </p:nvPicPr>
        <p:blipFill>
          <a:blip r:embed="R0404c2fbf8d54b35"/>
          <a:stretch/>
        </p:blipFill>
        <p:spPr>
          <a:xfrm>
            <a:off x="1277471" y="1190625"/>
            <a:ext cx="9637059" cy="4095750"/>
          </a:xfrm>
          <a:prstGeom prst="rect">
            <a:avLst/>
          </a:prstGeom>
        </p:spPr>
      </p:pic>
      <p:sp>
        <p:nvSpPr>
          <p:cNvPr id="3" name="">
            <a:extLst>
              <a:ext uri="{FF2B5EF4-FFF2-40B4-BE49-F238E27FC236}">
                <ns2:creationId id="{14C7E5C7-D791-480C-B73E-9CBE7E6DF0C4}"/>
              </a:ext>
            </a:extLst>
          </p:cNvPr>
          <p:cNvSpPr>
            <a:spLocks noGrp="1"/>
          </p:cNvSpPr>
          <p:nvPr/>
        </p:nvSpPr>
        <p:spPr>
          <a:xfrm>
            <a:off x="666750" y="547687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闭眼听：你会想到怎样的场景？</a:t>
            </a:r>
          </a:p>
        </p:txBody>
      </p:sp>
      <p:sp>
        <p:nvSpPr>
          <p:cNvPr id="4" name="">
            <a:extLst>
              <a:ext uri="{FF2B5EF4-FFF2-40B4-BE49-F238E27FC236}">
                <ns2:creationId id="{B2AEB6A0-7E64-4C68-A5DA-2FF810840615}"/>
              </a:ext>
            </a:extLst>
          </p:cNvPr>
          <p:cNvSpPr>
            <a:spLocks noGrp="1"/>
          </p:cNvSpPr>
          <p:nvPr/>
        </p:nvSpPr>
        <p:spPr>
          <a:xfrm>
            <a:off x="666750" y="5924550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再看画面：这种联想有没有改变？</a:t>
            </a:r>
          </a:p>
        </p:txBody>
      </p:sp>
      <p:sp>
        <p:nvSpPr>
          <p:cNvPr id="5" name="">
            <a:extLst>
              <a:ext uri="{FF2B5EF4-FFF2-40B4-BE49-F238E27FC236}">
                <ns2:creationId id="{DC1C21FD-6049-4A27-AEB5-F9870DA22E5B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val="1764317186"/>
      </p:ext>
    </p:extLst>
  </p:cSld>
  <p:timing>
    <p:tnLst>
      <p:par>
        <p:cTn id="1" dur="indefinite" restart="never" nodeType="tmRoot">
          <p:childTnLst>
            <p:audi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D94C9-8500-4963-97CB-16F10AE1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从皇帝到普通人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CB959-57FE-4B9B-8737-592C54C9FF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c45ff68754b38"/>
          <a:stretch xmlns:a="http://schemas.openxmlformats.org/drawingml/2006/main"/>
        </p:blipFill>
        <p:spPr>
          <a:xfrm xmlns:a="http://schemas.openxmlformats.org/drawingml/2006/main">
            <a:off x="571500" y="2113359"/>
            <a:ext cx="6191250" cy="2631281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90BF1-6FEA-4696-897B-803743E8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763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幼年登基，在紫禁城中成长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1B41A-B51A-4C17-BABC-F6F920CF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526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离开宫城，仍希望恢复帝位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5AFA3-4A22-48CD-8F7D-9D76BFD5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289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成为伪满洲国的傀儡皇帝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B6922-5B85-4052-BBD8-40FD6D97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052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战后被囚、改造，成为普通公民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2BDAB-FDA7-4E8F-9265-615D2E70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晚年以游客身份重返故宫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7807B2-F723-4FF6-88D3-66AFB546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16366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F8D1B-C80F-4AEA-8913-96B0ED955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三位作曲者，不同的创作经验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EE8C9-8EE8-4EFF-969F-84CF508B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坂本龙一：电子音乐与管弦乐写作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E3E9D-D0C4-4A12-8A5F-4E43DDAA3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David Byrne：Main Title Theme等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91916-6C60-40E1-8CB8-3B9DC2CA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苏聪：中国音乐与宫廷场景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CC687-74ED-494D-A08F-1B1095E4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中国乐器演奏，也进入现代录音制作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7545A-6A3A-4557-9E70-E2D540E2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56670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3B3A9-FF6B-4DF0-8BC6-C19C763B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为什么我们会听出“故宫感”？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DFD2E-B2A3-4802-92B7-BF781E79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音色：起音、滑动、持续与颗粒感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37B84-F757-4867-8B21-FFD12115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旋律、节奏与声部的疏密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80553-0EB4-4358-A873-AB891C53D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录音与电子加工改变声音质感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E7FC1-4BB9-4D85-A868-5A9F5727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宫门、红墙和服饰也参与联想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A51ECC-0F2E-45B5-8400-D318C2FF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937302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B1EB85-CDA7-4CB2-B528-3F05AA9D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宫殿还在，进入它的人变了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622E3-D188-4DD4-8863-E6BC937AD4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e1e2fcebb4351"/>
          <a:stretch xmlns:a="http://schemas.openxmlformats.org/drawingml/2006/main"/>
        </p:blipFill>
        <p:spPr>
          <a:xfrm xmlns:a="http://schemas.openxmlformats.org/drawingml/2006/main">
            <a:off x="571500" y="1775222"/>
            <a:ext cx="3524250" cy="149780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917A6-7611-4F90-93EA-454B665F7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433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00:09:14　初入宫城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C24FC-30C9-4894-B458-B8E3C71BC2C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54c889a34241f4"/>
          <a:stretch xmlns:a="http://schemas.openxmlformats.org/drawingml/2006/main"/>
        </p:blipFill>
        <p:spPr>
          <a:xfrm xmlns:a="http://schemas.openxmlformats.org/drawingml/2006/main">
            <a:off x="4333875" y="1775222"/>
            <a:ext cx="3524250" cy="149780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72B76A-F52D-437A-87B5-85DBD3E5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433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00:41:24　庄士敦到来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28C08-78A2-4F7C-AD08-248A41F507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775c8b967461c"/>
          <a:stretch xmlns:a="http://schemas.openxmlformats.org/drawingml/2006/main"/>
        </p:blipFill>
        <p:spPr>
          <a:xfrm xmlns:a="http://schemas.openxmlformats.org/drawingml/2006/main">
            <a:off x="8096250" y="1775222"/>
            <a:ext cx="3524250" cy="149780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50B41-00EE-4149-8343-37134204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02:35:38　普通人重返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3F175-A59E-45EA-8834-C0D891BD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建筑相对稳定，人物身份与通行方式不断改变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AF764-2AAA-494A-AC14-54A448AD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46576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D91C2-716C-406D-831C-6F4131CA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人很小，宫殿很大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4CF08-7FBC-442B-B506-04A6A8B79A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0283d0954483c"/>
          <a:stretch xmlns:a="http://schemas.openxmlformats.org/drawingml/2006/main"/>
        </p:blipFill>
        <p:spPr>
          <a:xfrm xmlns:a="http://schemas.openxmlformats.org/drawingml/2006/main">
            <a:off x="1277471" y="1190625"/>
            <a:ext cx="9637059" cy="4095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55A654-7AE8-46C5-9968-643253E1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远景把人物的移动放进巨大庭院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B80E0-CA63-460B-B1B2-A9DCD3A4D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245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他拥有皇帝身份，却未必能决定去向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2A540A-3711-418D-AD92-3FE30ADA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01617840"/>
      </p:ext>
    </p:extLst>
  </p:cSld>
</p:sld>
</file>

<file path=ppt/slides/slide8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EA5E71F6-F3F2-4150-8B6C-BC39E237B6F4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追阿嬷：跑得再快，仍有距离</a:t>
            </a:r>
          </a:p>
        </p:txBody>
      </p:sp>
      <p:pic>
        <p:nvPicPr>
          <p:cNvPr id="2" name="MEDIA_7">
            <a:extLst>
              <a:ext uri="{FF2B5EF4-FFF2-40B4-BE49-F238E27FC236}">
                <ns2:creationId id="{12A16AC5-C0A1-4705-B319-6EAEB4114266}"/>
              </a:ext>
            </a:extLst>
            <a:hlinkClick action="ppaction://media"/>
          </p:cNvPr>
          <p:cNvPicPr>
            <a:picLocks noChangeAspect="1"/>
          </p:cNvPicPr>
          <p:nvPr>
            <a:videoFile r:link="rIdMediaFile2"/>
            <p:extLst>
              <p:ext uri="{DAA4B4D4-5B9D-4661-A4F6-83A2F4AD3B91}">
                <p14:media r:embed="rIdOfficeMedia2"/>
              </p:ext>
            </p:extLst>
          </p:nvPr>
        </p:nvPicPr>
        <p:blipFill>
          <a:blip r:embed="R31391b28aed34252"/>
          <a:stretch/>
        </p:blipFill>
        <p:spPr>
          <a:xfrm>
            <a:off x="571500" y="1905000"/>
            <a:ext cx="7620000" cy="3238500"/>
          </a:xfrm>
          <a:prstGeom prst="rect">
            <a:avLst/>
          </a:prstGeom>
        </p:spPr>
      </p:pic>
      <p:sp>
        <p:nvSpPr>
          <p:cNvPr id="3" name="">
            <a:extLst>
              <a:ext uri="{FF2B5EF4-FFF2-40B4-BE49-F238E27FC236}">
                <ns2:creationId id="{5DEA0182-B151-45E9-9145-AA7C600CCCEF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近处看奔跑，远处看宫城</a:t>
            </a:r>
          </a:p>
        </p:txBody>
      </p:sp>
      <p:sp>
        <p:nvSpPr>
          <p:cNvPr id="4" name="">
            <a:extLst>
              <a:ext uri="{FF2B5EF4-FFF2-40B4-BE49-F238E27FC236}">
                <ns2:creationId id="{0CBCFBA6-B865-492B-BEC0-EF1AB1B2D669}"/>
              </a:ext>
            </a:extLst>
          </p:cNvPr>
          <p:cNvSpPr>
            <a:spLocks noGrp="1"/>
          </p:cNvSpPr>
          <p:nvPr/>
        </p:nvSpPr>
        <p:spPr>
          <a:xfrm>
            <a:off x="8667750" y="3286125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人物变小以后，你还在注意什么声音？</a:t>
            </a:r>
          </a:p>
        </p:txBody>
      </p:sp>
      <p:sp>
        <p:nvSpPr>
          <p:cNvPr id="5" name="">
            <a:extLst>
              <a:ext uri="{FF2B5EF4-FFF2-40B4-BE49-F238E27FC236}">
                <ns2:creationId id="{B3FA9A23-30B3-4E7B-8E22-A9504557DD62}"/>
              </a:ext>
            </a:extLst>
          </p:cNvPr>
          <p:cNvSpPr>
            <a:spLocks noGrp="1"/>
          </p:cNvSpPr>
          <p:nvPr/>
        </p:nvSpPr>
        <p:spPr>
          <a:xfrm>
            <a:off x="571500" y="5962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　05_追阿嬷</a:t>
            </a:r>
          </a:p>
        </p:txBody>
      </p:sp>
      <p:sp>
        <p:nvSpPr>
          <p:cNvPr id="6" name="">
            <a:extLst>
              <a:ext uri="{FF2B5EF4-FFF2-40B4-BE49-F238E27FC236}">
                <ns2:creationId id="{B2140C87-D354-4A11-B9AA-5D25C3675562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val="617781443"/>
      </p:ext>
    </p:extLst>
  </p:cSld>
  <p:timing>
    <p:tnLst>
      <p:par>
        <p:cTn id="1" dur="indefinite" restart="never" nodeType="tmRoot">
          <p:childTnLst>
            <p:video>
              <p:cMediaNode vol="80000">
                <p:cTn id="3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E5AE0C0D-D392-4B50-88A9-C0CBEDFE8D05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追婉容：成年以后，门仍没有打开</a:t>
            </a:r>
          </a:p>
        </p:txBody>
      </p:sp>
      <p:pic>
        <p:nvPicPr>
          <p:cNvPr id="2" name="MEDIA_8">
            <a:extLst>
              <a:ext uri="{FF2B5EF4-FFF2-40B4-BE49-F238E27FC236}">
                <ns2:creationId id="{E83616EA-CAC9-4AA3-8C72-90D40177FE5B}"/>
              </a:ext>
            </a:extLst>
            <a:hlinkClick action="ppaction://media"/>
          </p:cNvPr>
          <p:cNvPicPr>
            <a:picLocks noChangeAspect="1"/>
          </p:cNvPicPr>
          <p:nvPr>
            <a:videoFile r:link="rIdMediaFile3"/>
            <p:extLst>
              <p:ext uri="{DAA4B4D4-5B9D-4661-A4F6-83A2F4AD3B91}">
                <p14:media r:embed="rIdOfficeMedia3"/>
              </p:ext>
            </p:extLst>
          </p:nvPr>
        </p:nvPicPr>
        <p:blipFill>
          <a:blip r:embed="R9ebbecadb85d4001"/>
          <a:stretch/>
        </p:blipFill>
        <p:spPr>
          <a:xfrm>
            <a:off x="571500" y="1905000"/>
            <a:ext cx="7620000" cy="3238500"/>
          </a:xfrm>
          <a:prstGeom prst="rect">
            <a:avLst/>
          </a:prstGeom>
        </p:spPr>
      </p:pic>
      <p:sp>
        <p:nvSpPr>
          <p:cNvPr id="3" name="">
            <a:extLst>
              <a:ext uri="{FF2B5EF4-FFF2-40B4-BE49-F238E27FC236}">
                <ns2:creationId id="{FD99FA4E-D954-43C5-9E42-2B963F78A068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童年追阿嬷，成年追婉容</a:t>
            </a:r>
          </a:p>
        </p:txBody>
      </p:sp>
      <p:sp>
        <p:nvSpPr>
          <p:cNvPr id="4" name="">
            <a:extLst>
              <a:ext uri="{FF2B5EF4-FFF2-40B4-BE49-F238E27FC236}">
                <ns2:creationId id="{4B4611DB-4F04-4677-BB67-FEC7C436EC10}"/>
              </a:ext>
            </a:extLst>
          </p:cNvPr>
          <p:cNvSpPr>
            <a:spLocks noGrp="1"/>
          </p:cNvSpPr>
          <p:nvPr/>
        </p:nvSpPr>
        <p:spPr>
          <a:xfrm>
            <a:off x="8667750" y="3286125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同样是追逐，这一次的处境有何不同？</a:t>
            </a:r>
          </a:p>
        </p:txBody>
      </p:sp>
      <p:sp>
        <p:nvSpPr>
          <p:cNvPr id="5" name="">
            <a:extLst>
              <a:ext uri="{FF2B5EF4-FFF2-40B4-BE49-F238E27FC236}">
                <ns2:creationId id="{521964A1-347D-4A15-9EE6-936F2F9C0C86}"/>
              </a:ext>
            </a:extLst>
          </p:cNvPr>
          <p:cNvSpPr>
            <a:spLocks noGrp="1"/>
          </p:cNvSpPr>
          <p:nvPr/>
        </p:nvSpPr>
        <p:spPr>
          <a:xfrm>
            <a:off x="571500" y="5962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　10_追婉容</a:t>
            </a:r>
          </a:p>
        </p:txBody>
      </p:sp>
      <p:sp>
        <p:nvSpPr>
          <p:cNvPr id="6" name="">
            <a:extLst>
              <a:ext uri="{FF2B5EF4-FFF2-40B4-BE49-F238E27FC236}">
                <ns2:creationId id="{0AA04BE7-281E-45EE-9739-B9243B24D5E3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val="966261429"/>
      </p:ext>
    </p:extLst>
  </p:cSld>
  <p:timing>
    <p:tnLst>
      <p:par>
        <p:cTn id="1" dur="indefinite" restart="never" nodeType="tmRoot">
          <p:childTnLst>
            <p:video>
              <p:cMediaNode vol="80000">
                <p:cTn id="4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B27EF850-9954-4B45-BA5D-9B32BE388CCB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文绣离开：这一次，她走了出去</a:t>
            </a:r>
          </a:p>
        </p:txBody>
      </p:sp>
      <p:pic>
        <p:nvPicPr>
          <p:cNvPr id="2" name="MEDIA_9">
            <a:extLst>
              <a:ext uri="{FF2B5EF4-FFF2-40B4-BE49-F238E27FC236}">
                <ns2:creationId id="{E22670B1-720F-4513-8F48-3914408B0DAB}"/>
              </a:ext>
            </a:extLst>
            <a:hlinkClick action="ppaction://media"/>
          </p:cNvPr>
          <p:cNvPicPr>
            <a:picLocks noChangeAspect="1"/>
          </p:cNvPicPr>
          <p:nvPr>
            <a:videoFile r:link="rIdMediaFile4"/>
            <p:extLst>
              <p:ext uri="{DAA4B4D4-5B9D-4661-A4F6-83A2F4AD3B91}">
                <p14:media r:embed="rIdOfficeMedia4"/>
              </p:ext>
            </p:extLst>
          </p:nvPr>
        </p:nvPicPr>
        <p:blipFill>
          <a:blip r:embed="R4a5a2c5ff7e84d0b"/>
          <a:stretch/>
        </p:blipFill>
        <p:spPr>
          <a:xfrm>
            <a:off x="571500" y="1905000"/>
            <a:ext cx="7620000" cy="3238500"/>
          </a:xfrm>
          <a:prstGeom prst="rect">
            <a:avLst/>
          </a:prstGeom>
        </p:spPr>
      </p:pic>
      <p:sp>
        <p:nvSpPr>
          <p:cNvPr id="3" name="">
            <a:extLst>
              <a:ext uri="{FF2B5EF4-FFF2-40B4-BE49-F238E27FC236}">
                <ns2:creationId id="{2EF4992A-9765-4AAC-8B03-4B7433BF4E2E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她提出离婚，也走出了原来的生活</a:t>
            </a:r>
          </a:p>
        </p:txBody>
      </p:sp>
      <p:sp>
        <p:nvSpPr>
          <p:cNvPr id="4" name="">
            <a:extLst>
              <a:ext uri="{FF2B5EF4-FFF2-40B4-BE49-F238E27FC236}">
                <ns2:creationId id="{77469E13-DA1A-414F-B010-E168A63BC357}"/>
              </a:ext>
            </a:extLst>
          </p:cNvPr>
          <p:cNvSpPr>
            <a:spLocks noGrp="1"/>
          </p:cNvSpPr>
          <p:nvPr/>
        </p:nvSpPr>
        <p:spPr>
          <a:xfrm>
            <a:off x="8667750" y="3286125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听雨声、音乐与动作怎样配合</a:t>
            </a:r>
          </a:p>
        </p:txBody>
      </p:sp>
      <p:sp>
        <p:nvSpPr>
          <p:cNvPr id="5" name="">
            <a:extLst>
              <a:ext uri="{FF2B5EF4-FFF2-40B4-BE49-F238E27FC236}">
                <ns2:creationId id="{6618DA13-CEDB-4ACE-B664-8904108259C8}"/>
              </a:ext>
            </a:extLst>
          </p:cNvPr>
          <p:cNvSpPr>
            <a:spLocks noGrp="1"/>
          </p:cNvSpPr>
          <p:nvPr/>
        </p:nvSpPr>
        <p:spPr>
          <a:xfrm>
            <a:off x="571500" y="5962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　09_雨中离开</a:t>
            </a:r>
          </a:p>
        </p:txBody>
      </p:sp>
      <p:sp>
        <p:nvSpPr>
          <p:cNvPr id="6" name="">
            <a:extLst>
              <a:ext uri="{FF2B5EF4-FFF2-40B4-BE49-F238E27FC236}">
                <ns2:creationId id="{14A8D330-6EA2-4B20-8785-FD6C5709100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val="1172709552"/>
      </p:ext>
    </p:extLst>
  </p:cSld>
  <p:timing>
    <p:tnLst>
      <p:par>
        <p:cTn id="1" dur="indefinite" restart="never" nodeType="tmRoot">
          <p:childTnLst>
            <p:video>
              <p:cMediaNode vol="80000">
                <p:cTn id="5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0ADC2-7BA9-4EB5-AB3F-1B0313E3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骑得更快，就能走得更远吗？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B7BB5C-AD59-4A2B-91E7-D32AED3906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6d6f445a44c07"/>
          <a:stretch xmlns:a="http://schemas.openxmlformats.org/drawingml/2006/main"/>
        </p:blipFill>
        <p:spPr>
          <a:xfrm xmlns:a="http://schemas.openxmlformats.org/drawingml/2006/main">
            <a:off x="571500" y="1577578"/>
            <a:ext cx="5238750" cy="2226469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4F8C73-BC2F-4296-8CDC-7C93AB70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719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童年的奔跑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3FE18-B34F-4038-8378-4C61546A32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d696e399a4134"/>
          <a:stretch xmlns:a="http://schemas.openxmlformats.org/drawingml/2006/main"/>
        </p:blipFill>
        <p:spPr>
          <a:xfrm xmlns:a="http://schemas.openxmlformats.org/drawingml/2006/main">
            <a:off x="6191250" y="1577578"/>
            <a:ext cx="5238750" cy="222646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6F4EF-6EC2-47A8-9080-E95F37EC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5238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自行车带来新的移动方式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78FC6-B9A5-4CB7-B3CC-197947F5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1104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自行车改变了速度，宫门仍决定通行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9DF73A-A9EB-4044-B0B2-2B385338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3458723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EF7746-BF88-4753-BBC1-FFEACF26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色彩怎样表现人生阶段？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690D9C-E6E1-4A0B-A79D-A71A0FF0E0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35c7b53234752"/>
          <a:stretch xmlns:a="http://schemas.openxmlformats.org/drawingml/2006/main"/>
        </p:blipFill>
        <p:spPr>
          <a:xfrm xmlns:a="http://schemas.openxmlformats.org/drawingml/2006/main">
            <a:off x="571500" y="1775222"/>
            <a:ext cx="3524250" cy="1497806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C7FBB-4CE3-4013-BBBE-93A5771D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433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红与进入回忆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DAB27E-808A-401F-BC76-03713CD76A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e673a97114ff9"/>
          <a:stretch xmlns:a="http://schemas.openxmlformats.org/drawingml/2006/main"/>
        </p:blipFill>
        <p:spPr>
          <a:xfrm xmlns:a="http://schemas.openxmlformats.org/drawingml/2006/main">
            <a:off x="4333875" y="1775222"/>
            <a:ext cx="3524250" cy="1497806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BDE169-51A9-44EB-BC10-840C0D8F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7433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绿色物件与外界知识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DD058-89B7-48CF-BCCA-BAC332DFA1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d4f46ab074eeb"/>
          <a:stretch xmlns:a="http://schemas.openxmlformats.org/drawingml/2006/main"/>
        </p:blipFill>
        <p:spPr>
          <a:xfrm xmlns:a="http://schemas.openxmlformats.org/drawingml/2006/main">
            <a:off x="8096250" y="1775222"/>
            <a:ext cx="3524250" cy="1497806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01C5A-25A1-4AF0-BDA2-F359A7A32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离宫与身份变化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1A9A8-0C45-4CD2-A07B-5ABF20FA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1104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从红色宫墙到绿色物件，外界逐渐进入生活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E6FAEE-A016-45BF-BEA2-0839D336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34942762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37427DAA-A848-4B21-B32C-F7C2B65C1D9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从1950年回到童年：转场怎样连起来？</a:t>
            </a:r>
          </a:p>
        </p:txBody>
      </p:sp>
      <p:pic>
        <p:nvPicPr>
          <p:cNvPr id="2" name="MEDIA_12">
            <a:extLst>
              <a:ext uri="{FF2B5EF4-FFF2-40B4-BE49-F238E27FC236}">
                <ns2:creationId id="{5134C8D5-9501-46E3-BFF1-1A96EED2491B}"/>
              </a:ext>
            </a:extLst>
            <a:hlinkClick action="ppaction://media"/>
          </p:cNvPr>
          <p:cNvPicPr>
            <a:picLocks noChangeAspect="1"/>
          </p:cNvPicPr>
          <p:nvPr>
            <a:videoFile r:link="rIdMediaFile5"/>
            <p:extLst>
              <p:ext uri="{DAA4B4D4-5B9D-4661-A4F6-83A2F4AD3B91}">
                <p14:media r:embed="rIdOfficeMedia5"/>
              </p:ext>
            </p:extLst>
          </p:nvPr>
        </p:nvPicPr>
        <p:blipFill>
          <a:blip r:embed="Rc69b0edf03994c80"/>
          <a:stretch/>
        </p:blipFill>
        <p:spPr>
          <a:xfrm>
            <a:off x="571500" y="1905000"/>
            <a:ext cx="7620000" cy="3238500"/>
          </a:xfrm>
          <a:prstGeom prst="rect">
            <a:avLst/>
          </a:prstGeom>
        </p:spPr>
      </p:pic>
      <p:sp>
        <p:nvSpPr>
          <p:cNvPr id="3" name="">
            <a:extLst>
              <a:ext uri="{FF2B5EF4-FFF2-40B4-BE49-F238E27FC236}">
                <ns2:creationId id="{A915E680-7170-4BF5-A0B7-949DCA2726FA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画面跨越年代，声音怎样承接？</a:t>
            </a:r>
          </a:p>
        </p:txBody>
      </p:sp>
      <p:sp>
        <p:nvSpPr>
          <p:cNvPr id="4" name="">
            <a:extLst>
              <a:ext uri="{FF2B5EF4-FFF2-40B4-BE49-F238E27FC236}">
                <ns2:creationId id="{DBF02307-B835-4767-A979-D25A67E95A8F}"/>
              </a:ext>
            </a:extLst>
          </p:cNvPr>
          <p:cNvSpPr>
            <a:spLocks noGrp="1"/>
          </p:cNvSpPr>
          <p:nvPr/>
        </p:nvSpPr>
        <p:spPr>
          <a:xfrm>
            <a:off x="8667750" y="3286125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先找剪辑点，再听声音有没有延续</a:t>
            </a:r>
          </a:p>
        </p:txBody>
      </p:sp>
      <p:sp>
        <p:nvSpPr>
          <p:cNvPr id="5" name="">
            <a:extLst>
              <a:ext uri="{FF2B5EF4-FFF2-40B4-BE49-F238E27FC236}">
                <ns2:creationId id="{A1668A14-2FF3-44BD-8F66-C4E93843033A}"/>
              </a:ext>
            </a:extLst>
          </p:cNvPr>
          <p:cNvSpPr>
            <a:spLocks noGrp="1"/>
          </p:cNvSpPr>
          <p:nvPr/>
        </p:nvSpPr>
        <p:spPr>
          <a:xfrm>
            <a:off x="571500" y="5962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　02_首次回忆转场</a:t>
            </a:r>
          </a:p>
        </p:txBody>
      </p:sp>
      <p:sp>
        <p:nvSpPr>
          <p:cNvPr id="6" name="">
            <a:extLst>
              <a:ext uri="{FF2B5EF4-FFF2-40B4-BE49-F238E27FC236}">
                <ns2:creationId id="{35ADECC0-9BF9-41ED-813D-6D1BE3FB743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val="1868581757"/>
      </p:ext>
    </p:extLst>
  </p:cSld>
  <p:timing>
    <p:tnLst>
      <p:par>
        <p:cTn id="1" dur="indefinite" restart="never" nodeType="tmRoot">
          <p:childTnLst>
            <p:video>
              <p:cMediaNode vol="80000">
                <p:cTn id="6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BEF45C-9077-41D7-8C3D-010C50257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按讲义区分：声源、过渡与静默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938CFF-3907-4BD5-AF8A-B1DE4617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现实性音乐／有源音乐：场景中的声源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EBF00A-8D6F-40F3-979B-22F23F2E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功能性音乐／无源音乐：影片的叙述表达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3E5700-A059-4EC4-A810-C8D5D501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过渡音乐：连接镜头和场面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D72334-2C8D-4BAA-A82B-0150DE0B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静默：声音停顿形成的表达效果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9C3180-E5C8-4DE8-95CF-31614D9D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490389839"/>
      </p:ext>
    </p:extLst>
  </p:cSld>
</p:sld>
</file>

<file path=ppt/slides/slide15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1" name="">
            <a:extLst>
              <a:ext uri="{FF2B5EF4-FFF2-40B4-BE49-F238E27FC236}">
                <ns2:creationId id="{DF1DAABC-D58C-4F57-907A-3E030DEB23E0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主题与变奏：什么相似，什么改变？</a:t>
            </a:r>
          </a:p>
        </p:txBody>
      </p:sp>
      <p:sp>
        <p:nvSpPr>
          <p:cNvPr id="2" name="">
            <a:extLst>
              <a:ext uri="{FF2B5EF4-FFF2-40B4-BE49-F238E27FC236}">
                <ns2:creationId id="{0A8306DE-11A6-4A68-93F6-AE78284C7462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先听旋律、节奏和乐句的联系</a:t>
            </a:r>
          </a:p>
        </p:txBody>
      </p:sp>
      <p:sp>
        <p:nvSpPr>
          <p:cNvPr id="3" name="">
            <a:extLst>
              <a:ext uri="{FF2B5EF4-FFF2-40B4-BE49-F238E27FC236}">
                <ns2:creationId id="{E60CBF55-057D-4295-9310-EAA97DECA1F6}"/>
              </a:ext>
            </a:extLst>
          </p:cNvPr>
          <p:cNvSpPr>
            <a:spLocks noGrp="1"/>
          </p:cNvSpPr>
          <p:nvPr/>
        </p:nvSpPr>
        <p:spPr>
          <a:xfrm>
            <a:off x="571500" y="1943100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再听音色、织体与力度的变化</a:t>
            </a:r>
          </a:p>
        </p:txBody>
      </p:sp>
      <p:sp>
        <p:nvSpPr>
          <p:cNvPr id="4" name="">
            <a:extLst>
              <a:ext uri="{FF2B5EF4-FFF2-40B4-BE49-F238E27FC236}">
                <ns2:creationId id="{4922BE38-6619-4F68-B0FC-81E6064644EB}"/>
              </a:ext>
            </a:extLst>
          </p:cNvPr>
          <p:cNvSpPr>
            <a:spLocks noGrp="1"/>
          </p:cNvSpPr>
          <p:nvPr/>
        </p:nvSpPr>
        <p:spPr>
          <a:xfrm>
            <a:off x="571500" y="2552700"/>
            <a:ext cx="11049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相近的音乐材料，可以形成不同的表达</a:t>
            </a:r>
          </a:p>
        </p:txBody>
      </p:sp>
      <p:pic>
        <p:nvPicPr>
          <p:cNvPr id="5" name="MEDIA_14">
            <a:extLst>
              <a:ext uri="{FF2B5EF4-FFF2-40B4-BE49-F238E27FC236}">
                <ns2:creationId id="{1455ABBF-D9B5-4791-A198-73744F238779}"/>
              </a:ext>
            </a:extLst>
            <a:hlinkClick action="ppaction://media"/>
          </p:cNvPr>
          <p:cNvPicPr>
            <a:picLocks noChangeAspect="1"/>
          </p:cNvPicPr>
          <p:nvPr>
            <a:audioFile r:link="rIdMediaFile6"/>
            <p:extLst>
              <p:ext uri="{DAA4B4D4-5B9D-4661-A4F6-83A2F4AD3B91}">
                <p14:media r:embed="rIdOfficeMedia6"/>
              </p:ext>
            </p:extLst>
          </p:nvPr>
        </p:nvPicPr>
        <p:blipFill>
          <a:blip r:embed="Raa8f2d4dedc34b3d"/>
          <a:stretch/>
        </p:blipFill>
        <p:spPr>
          <a:xfrm>
            <a:off x="762000" y="3524250"/>
            <a:ext cx="2190750" cy="2190750"/>
          </a:xfrm>
          <a:prstGeom prst="rect">
            <a:avLst/>
          </a:prstGeom>
        </p:spPr>
      </p:pic>
      <p:pic>
        <p:nvPicPr>
          <p:cNvPr id="6" name="MEDIA_14_b">
            <a:extLst>
              <a:ext uri="{FF2B5EF4-FFF2-40B4-BE49-F238E27FC236}">
                <ns2:creationId id="{4F18A377-E8EE-4F9B-A78D-43D0F141EDC4}"/>
              </a:ext>
            </a:extLst>
            <a:hlinkClick action="ppaction://media"/>
          </p:cNvPr>
          <p:cNvPicPr>
            <a:picLocks noChangeAspect="1"/>
          </p:cNvPicPr>
          <p:nvPr>
            <a:audioFile r:link="rIdMediaFile7"/>
            <p:extLst>
              <p:ext uri="{DAA4B4D4-5B9D-4661-A4F6-83A2F4AD3B91}">
                <p14:media r:embed="rIdOfficeMedia7"/>
              </p:ext>
            </p:extLst>
          </p:nvPr>
        </p:nvPicPr>
        <p:blipFill>
          <a:blip r:embed="R543d100311da45b9"/>
          <a:stretch/>
        </p:blipFill>
        <p:spPr>
          <a:xfrm>
            <a:off x="6477000" y="3524250"/>
            <a:ext cx="2190750" cy="2190750"/>
          </a:xfrm>
          <a:prstGeom prst="rect">
            <a:avLst/>
          </a:prstGeom>
        </p:spPr>
      </p:pic>
      <p:sp>
        <p:nvSpPr>
          <p:cNvPr id="7" name="">
            <a:extLst>
              <a:ext uri="{FF2B5EF4-FFF2-40B4-BE49-F238E27FC236}">
                <ns2:creationId id="{9E46F04E-B119-441A-B7D9-6833E42CB775}"/>
              </a:ext>
            </a:extLst>
          </p:cNvPr>
          <p:cNvSpPr>
            <a:spLocks noGrp="1"/>
          </p:cNvSpPr>
          <p:nvPr/>
        </p:nvSpPr>
        <p:spPr>
          <a:xfrm>
            <a:off x="3238500" y="3905250"/>
            <a:ext cx="2952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A　Theme Variation 2</a:t>
            </a:r>
          </a:p>
        </p:txBody>
      </p:sp>
      <p:sp>
        <p:nvSpPr>
          <p:cNvPr id="8" name="">
            <a:extLst>
              <a:ext uri="{FF2B5EF4-FFF2-40B4-BE49-F238E27FC236}">
                <ns2:creationId id="{0B79E65B-BBFA-40F2-A17A-66E918DF396F}"/>
              </a:ext>
            </a:extLst>
          </p:cNvPr>
          <p:cNvSpPr>
            <a:spLocks noGrp="1"/>
          </p:cNvSpPr>
          <p:nvPr/>
        </p:nvSpPr>
        <p:spPr>
          <a:xfrm>
            <a:off x="8953500" y="3905250"/>
            <a:ext cx="25717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B　Theme</a:t>
            </a:r>
          </a:p>
        </p:txBody>
      </p:sp>
      <p:sp>
        <p:nvSpPr>
          <p:cNvPr id="9" name="">
            <a:extLst>
              <a:ext uri="{FF2B5EF4-FFF2-40B4-BE49-F238E27FC236}">
                <ns2:creationId id="{6984D109-DE7D-43BB-B07E-55F90F49B891}"/>
              </a:ext>
            </a:extLst>
          </p:cNvPr>
          <p:cNvSpPr>
            <a:spLocks noGrp="1"/>
          </p:cNvSpPr>
          <p:nvPr/>
        </p:nvSpPr>
        <p:spPr>
          <a:xfrm>
            <a:off x="571500" y="6000750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点击封面播放对应原声摘录</a:t>
            </a:r>
          </a:p>
        </p:txBody>
      </p:sp>
      <p:sp>
        <p:nvSpPr>
          <p:cNvPr id="10" name="">
            <a:extLst>
              <a:ext uri="{FF2B5EF4-FFF2-40B4-BE49-F238E27FC236}">
                <ns2:creationId id="{38A0A9D3-5653-4F69-9855-341954C10FF5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val="273827407"/>
      </p:ext>
    </p:extLst>
  </p:cSld>
  <p:timing>
    <p:tnLst>
      <p:par>
        <p:cTn id="1" dur="indefinite" restart="never" nodeType="tmRoot">
          <p:childTnLst>
            <p:audi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audio>
            <p:audio>
              <p:cMediaNode vol="80000">
                <p:cTn id="8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8EB40-971D-4540-98DF-04520F5A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华丽的视听，会让我们更理解他吗？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F0698-7345-426F-8A9C-0BF43242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Ebert：关注人物行动受到的限制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0B02E-BB7F-4A52-AC79-F3F06C99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Thomson：宏大场面中的日常细节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87FDF-E228-4790-B28E-7216913D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Kempley：华丽形式与戏剧张力的距离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8B3602-EED9-465C-B786-5E0071E5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对人物的同情，如何影响我们的判断？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B6C39-833F-47AF-9D73-65EF80EE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71815974"/>
      </p:ext>
    </p:extLst>
  </p:cSld>
</p:sld>
</file>

<file path=ppt/slides/slide17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171714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" name="">
            <a:extLst>
              <a:ext uri="{FF2B5EF4-FFF2-40B4-BE49-F238E27FC236}">
                <ns2:creationId id="{11D648F5-861F-478F-BAD2-45BF63AEA34F}"/>
              </a:ext>
            </a:extLst>
          </p:cNvPr>
          <p:cNvSpPr>
            <a:spLocks noGrp="1"/>
          </p:cNvSpPr>
          <p:nvPr/>
        </p:nvSpPr>
        <p:spPr>
          <a:xfrm>
            <a:off x="571500" y="400050"/>
            <a:ext cx="11049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重返龙椅：怎样证明自己曾是皇帝？</a:t>
            </a:r>
          </a:p>
        </p:txBody>
      </p:sp>
      <p:pic>
        <p:nvPicPr>
          <p:cNvPr id="2" name="MEDIA_16">
            <a:extLst>
              <a:ext uri="{FF2B5EF4-FFF2-40B4-BE49-F238E27FC236}">
                <ns2:creationId id="{726A45FD-4B9B-4A81-A4FA-A09B0715801E}"/>
              </a:ext>
            </a:extLst>
            <a:hlinkClick action="ppaction://media"/>
          </p:cNvPr>
          <p:cNvPicPr>
            <a:picLocks noChangeAspect="1"/>
          </p:cNvPicPr>
          <p:nvPr>
            <a:videoFile r:link="rIdMediaFile8"/>
            <p:extLst>
              <p:ext uri="{DAA4B4D4-5B9D-4661-A4F6-83A2F4AD3B91}">
                <p14:media r:embed="rIdOfficeMedia8"/>
              </p:ext>
            </p:extLst>
          </p:nvPr>
        </p:nvPicPr>
        <p:blipFill>
          <a:blip r:embed="R1af4561065f3459a"/>
          <a:stretch/>
        </p:blipFill>
        <p:spPr>
          <a:xfrm>
            <a:off x="571500" y="1905000"/>
            <a:ext cx="7620000" cy="3238500"/>
          </a:xfrm>
          <a:prstGeom prst="rect">
            <a:avLst/>
          </a:prstGeom>
        </p:spPr>
      </p:pic>
      <p:sp>
        <p:nvSpPr>
          <p:cNvPr id="3" name="">
            <a:extLst>
              <a:ext uri="{FF2B5EF4-FFF2-40B4-BE49-F238E27FC236}">
                <ns2:creationId id="{442C9A76-3B0A-47A4-866E-32BD3545ADB8}"/>
              </a:ext>
            </a:extLst>
          </p:cNvPr>
          <p:cNvSpPr>
            <a:spLocks noGrp="1"/>
          </p:cNvSpPr>
          <p:nvPr/>
        </p:nvSpPr>
        <p:spPr>
          <a:xfrm>
            <a:off x="8667750" y="1714500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昔日的皇帝，回到已向公众开放的宫殿</a:t>
            </a:r>
          </a:p>
        </p:txBody>
      </p:sp>
      <p:sp>
        <p:nvSpPr>
          <p:cNvPr id="4" name="">
            <a:extLst>
              <a:ext uri="{FF2B5EF4-FFF2-40B4-BE49-F238E27FC236}">
                <ns2:creationId id="{2B7CFBB6-3E15-43C6-AD47-9CADADCD7DA8}"/>
              </a:ext>
            </a:extLst>
          </p:cNvPr>
          <p:cNvSpPr>
            <a:spLocks noGrp="1"/>
          </p:cNvSpPr>
          <p:nvPr/>
        </p:nvSpPr>
        <p:spPr>
          <a:xfrm>
            <a:off x="8667750" y="3286125"/>
            <a:ext cx="28575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一个小物件，唤起了过去的身份</a:t>
            </a:r>
          </a:p>
        </p:txBody>
      </p:sp>
      <p:sp>
        <p:nvSpPr>
          <p:cNvPr id="5" name="">
            <a:extLst>
              <a:ext uri="{FF2B5EF4-FFF2-40B4-BE49-F238E27FC236}">
                <ns2:creationId id="{9624744F-9F87-41AF-B091-A496A034FAD8}"/>
              </a:ext>
            </a:extLst>
          </p:cNvPr>
          <p:cNvSpPr>
            <a:spLocks noGrp="1"/>
          </p:cNvSpPr>
          <p:nvPr/>
        </p:nvSpPr>
        <p:spPr>
          <a:xfrm>
            <a:off x="571500" y="59626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点击画面播放　13_龙椅与蝈蝈</a:t>
            </a:r>
          </a:p>
        </p:txBody>
      </p:sp>
      <p:sp>
        <p:nvSpPr>
          <p:cNvPr id="6" name="">
            <a:extLst>
              <a:ext uri="{FF2B5EF4-FFF2-40B4-BE49-F238E27FC236}">
                <ns2:creationId id="{65978B5E-9B83-4C34-BD93-E8D992E0DFFD}"/>
              </a:ext>
            </a:extLst>
          </p:cNvPr>
          <p:cNvSpPr>
            <a:spLocks noGrp="1"/>
          </p:cNvSpPr>
          <p:nvPr/>
        </p:nvSpPr>
        <p:spPr>
          <a:xfrm>
            <a:off x="11144250" y="6477000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val="625209340"/>
      </p:ext>
    </p:extLst>
  </p:cSld>
  <p:timing>
    <p:tnLst>
      <p:par>
        <p:cTn id="1" dur="indefinite" restart="never" nodeType="tmRoot">
          <p:childTnLst>
            <p:video>
              <p:cMediaNode vol="80000">
                <p:cTn id="9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831741-7BEF-433B-9043-BFB7E60C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从人物处境，听到音乐的作用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9363E-A289-4AC2-B8C8-1C66D94D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远景与宫门：呈现行动的限制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441229-CCA6-4E3C-9F7E-AA68D929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追逐与离开：比较不同的人物选择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433C13-F186-4039-BAE3-C6AF857F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台词、音响、音乐：共同组织叙事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E2168-8CE0-485A-A94B-01B814EA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声画关系：解释感受怎样形成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13323-2FDF-47C6-920A-33C75D37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930247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6E5DF0-360B-4DEA-AAA8-0BCB8C81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你会用哪个细节说明自己的感受？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7C715A-D2B5-46A8-B251-D5B0490B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选一个片段，说一个画面和一个声音细节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D5B0F-D26D-49A8-B66F-8C58EFD4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它让你怎样理解人物当时的处境？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70F1B-7AFB-4AF6-8789-42FFE6FF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这种理解，会影响你对人物选择的评价吗？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3F9EB-B825-40D1-B922-6903E8DC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700323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B6A31-A5F6-4F1A-8D50-AB9F7C58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主要参考资料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4E18C6-49A5-4702-953D-405B8F32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Hillary Weston，坂本龙一访谈，Criterion，2017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DCCE49-A6EB-41CE-A84D-8B2C3D88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Vittorio Storaro，里斯本大师课，2017，第10—11页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C31E57-8A2A-45AB-A224-61CF7287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Roger Ebert，The Last Emperor，1987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1D213D-D515-43C6-B9B4-4473587A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David Thomson，Criterion专栏，2009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38D41-D09D-4B37-A2C7-2014CF07D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Jonathan Broxton，Movie Music UK配乐评论，2017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3FB95-8710-4053-A88F-D94722B7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1175798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557DA-3500-4BD2-9CBF-2F71BC18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评论与课程参考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E23C34-BA0A-4B15-8717-A03FC5C5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Diana，豆瓣《有哪些亮点和记忆点？》，2019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7FDE5-D55E-4B3F-BF89-F10954D3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8125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Rita Kempley，Washington Post，1987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273C1-0540-4193-8F2A-7E7B5D79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James Berardinelli，ReelViews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6DB35B-6108-4918-9024-ADB3D748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Oliver Stone，1998影评，导演官方档案转载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2ED0D-D3E8-4F70-9447-A553AA9C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5300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课程《电影音乐》第三部分，第25—39、55—57页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151B4-C953-4411-8CCB-FA84D4D5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0699283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5CDD7-580C-4BD3-80C4-FC0CE720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备用片段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309EA-0C5A-40EE-91D1-A5FC77BA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童年奔跑　00:27:05—00:28:05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B69263-994B-4A6E-AEA6-53A998E1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自行车　00:53:05—00:54:05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4BD64E-BB15-4B8F-BFAC-F04B1C25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枪声附近转场　02:20:35—02:21:05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94F77F-776B-44EC-8796-D1FCB728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重访远景　02:35:15—02:36:05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677D17-F16B-43D9-AD08-E65DACCD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886080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1717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41A50-9E26-4566-9AB2-42EFF58C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答疑时回到哪些问题？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C3240-045B-424B-BEE0-8C9C68703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音画同步：同步的是情绪、节奏还是动作？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D36B6C-63A9-4B43-B853-C025C954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主题变奏：旋律联系与编配变化分别是什么？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97CB6-D6AC-4802-96B3-2A43B3D4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F1E7D3"/>
                </a:solidFill>
                <a:latin typeface="Microsoft YaHei"/>
                <a:ea typeface="Microsoft YaHei"/>
                <a:cs typeface="Microsoft YaHei"/>
              </a:rPr>
              <a:t>静默：哪一层声音发生了停顿？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0C4FE2-491C-4EE1-907F-02583724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D5B16B"/>
                </a:solidFill>
                <a:latin typeface="Microsoft YaHei"/>
                <a:ea typeface="Microsoft YaHei"/>
                <a:cs typeface="Microsoft YaHei"/>
              </a:rPr>
              <a:t>人物评价：电影呈现了什么，又省略了什么？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E26F2-B113-404E-B395-C01C84E7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5AD9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0480837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2026-10-18T12:43:46.0480000Z</dcterms:created>
  <dcterms:modified xsi:type="dcterms:W3CDTF">2026-10-18T12:43:46.0480000Z</dcterms:modified>
</coreProperties>
</file>