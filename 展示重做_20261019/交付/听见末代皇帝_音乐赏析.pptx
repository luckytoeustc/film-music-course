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4" r:id="rId23"/>
    <p:sldId id="285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丁，点击播放开场片段并置。先让追赶、离开与重访构成问题，再交代音乐怎样连接这些时刻。说明这里经过剪辑重组；具体声画分析回到后面的原片段。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丁，简述跨国制作与主要创作者。配乐由三人署名，避免全部归给坂本龙一。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丁，说明北美公映和票房口径，介绍九项奥斯卡。不以获奖代替音乐分析。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丁，并列评论分歧：宏大景观怎样容纳个人经验。留下问题，结尾回应。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丁，只交代后面片段需要的身份变化，避免完整复述剧情。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丁，区分囚禁中的现在与回忆。把时间结构留给后面的连续转场验证。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丁，用人物与宫门的比例说明行动受限。交接：段从创作者与声音材料继续。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段，介绍三位作曲者及署名边界。片头</a:t>
            </a:r>
            <a:r>
              <a:rPr lang="en-US" altLang="zh-CN"/>
              <a:t>Main Title Theme</a:t>
            </a:r>
            <a:r>
              <a:rPr lang="zh-CN" altLang="en-US"/>
              <a:t>与坂本的主题条目区分。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段，简述坂本的参与与录音背景。预告电子音色会在主题变奏之后专门展开，本页不重复设备知识。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段，播放片头。引导辨认声音层次与音色联想，不先替听众指定全部乐器。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段，区分文化联想与历史复原。此处只讲观看预期，合成与采样留到后面的专页。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段，播放</a:t>
            </a:r>
            <a:r>
              <a:rPr lang="en-US" altLang="zh-CN"/>
              <a:t>Open the Door</a:t>
            </a:r>
            <a:r>
              <a:rPr lang="zh-CN" altLang="en-US"/>
              <a:t>，建立材料印象。曲名不能直接证明电影中的使用位置。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段，播放连续转场，注意声音与新画面谁先出现。区分剪辑连接与远距离主题重现。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段，解释主题怎样建立记忆联系，变化可落在配器、音区和伴奏。交接：丁比较两次追赶。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丁，播放</a:t>
            </a:r>
            <a:r>
              <a:rPr lang="en-US" altLang="zh-CN"/>
              <a:t>Where Is Armo</a:t>
            </a:r>
            <a:r>
              <a:rPr lang="zh-CN" altLang="en-US"/>
              <a:t>，先抓伴奏的行进感与上方旋律，不堆叠听辨任务。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丁，播放追阿嬷。观察身体、宫门、剪辑和音乐推进的关系，不把所有追逐都称为动作同步。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丁，播放追婉容。年龄身份变化与相似行动并置，旋律对应只说到已回听核实的位置。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丁，比较两次追赶的节奏、力度与织体，避免把音符变密都叫加速。交接：段从离开者讲到声音的重新组织。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段，播放</a:t>
            </a:r>
            <a:r>
              <a:rPr lang="en-US" altLang="zh-CN"/>
              <a:t>Rain</a:t>
            </a:r>
            <a:r>
              <a:rPr lang="zh-CN" altLang="en-US"/>
              <a:t>，注意音乐自身的表达。创作意图与实际听觉效果分开。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段，播放雨中离开。联系主观评论：配乐怎样影响我们理解离开。此页不重复合成器介绍。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段，播放两段原声，先比较材料联系，再关注音色和伴奏。保留同一主题也能改变表达的判断，接到合成乐专页。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段，先解释合成、采样与编序的区别。</a:t>
            </a:r>
            <a:r>
              <a:rPr lang="en-US" altLang="zh-CN"/>
              <a:t>Fairlight</a:t>
            </a:r>
            <a:r>
              <a:rPr lang="zh-CN" altLang="en-US"/>
              <a:t>兼具这些功能，设备介绍只用于理解声音组织，不据此猜定本片每个音色。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段，回扣刚才两段摘录，不再整段重播。区分已有评论、制作名单与自己的听辨。讨论音色的起音、延音、叠置怎样影响空间感。交接：丁把声音比较带回结尾。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丁，播放</a:t>
            </a:r>
            <a:r>
              <a:rPr lang="en-US" altLang="zh-CN"/>
              <a:t>First Coronation</a:t>
            </a:r>
            <a:r>
              <a:rPr lang="zh-CN" altLang="en-US"/>
              <a:t>，带着材料印象看结尾。原声标题不能独自证明结尾配乐版本。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丁，播放重返龙椅。人物与空间的关系已改变，核对音乐怎样参与记忆。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丁，区分故事内声源与画外声音，回看音乐、对白、环境声的前景关系。没有配乐不等于静音。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丁，回应开头的评论分歧：用前面的具体案例说明音乐怎样贴近个人经验，保留历史评价的限度。邀请段共同进入互动。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丁、段，共同主持互动。丁接人物与叙事的问题，段接音色与合成乐的问题；另一人按需要补充，最后共同回应。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丁、段，按提问定位来源，不逐条朗读参考文献。创作访谈、学术研究和影评的证据用途分开。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丁、段，共同答疑，按问题选择备用片段。音乐细节尚未核实的地方直接说明，不临场补造。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2BE452-B2EB-4895-AD56-534B65917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2D56701-68F7-4956-8713-EF0C31E82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6802691-6C2A-4EA5-8DAA-DA2277A2C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E5145CB-955B-4282-864C-546D3DFF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0C09B33-8256-4CC1-8AED-4F39461E0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CAB6BFF-C094-47C5-8B03-EB7BE2A50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709339B-EE9A-4B49-B246-8C0C8CAAD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A432733-04E0-4DE1-B6F1-EBA659B072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32D8A97-7838-4E71-B20A-4E62D42E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9D56C35-C524-4C7C-AC3E-095E9D7FC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OfficeMedia1" Type="http://schemas.microsoft.com/office/2007/relationships/media" Target="../media/embedded1.m4a"/><Relationship Id="rId2" Type="http://schemas.openxmlformats.org/officeDocument/2006/relationships/slideLayout" Target="../slideLayouts/slideLayout6.xml"/><Relationship Id="rId1" Type="http://schemas.openxmlformats.org/officeDocument/2006/relationships/audio" Target="\ppt\media\embedded1.m4a" TargetMode="Externa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OfficeMedia2" Type="http://schemas.microsoft.com/office/2007/relationships/media" Target="../media/embedded2.m4a"/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audio" Target="\ppt\media\embedded2.m4a" TargetMode="Externa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ideo" Target="\ppt\media\embedded3.mp4" TargetMode="External"/><Relationship Id="rIdOfficeMedia3" Type="http://schemas.microsoft.com/office/2007/relationships/media" Target="../media/embedded3.mp4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audio" Target="\ppt\media\embedded4.m4a" TargetMode="External"/><Relationship Id="rIdOfficeMedia4" Type="http://schemas.microsoft.com/office/2007/relationships/media" Target="../media/embedded4.m4a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OfficeMedia5" Type="http://schemas.microsoft.com/office/2007/relationships/media" Target="../media/embedded5.mp4"/><Relationship Id="rId1" Type="http://schemas.openxmlformats.org/officeDocument/2006/relationships/video" Target="\ppt\media\embedded5.mp4" TargetMode="Externa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OfficeMedia6" Type="http://schemas.microsoft.com/office/2007/relationships/media" Target="../media/embedded6.mp4"/><Relationship Id="rId2" Type="http://schemas.openxmlformats.org/officeDocument/2006/relationships/slideLayout" Target="../slideLayouts/slideLayout6.xml"/><Relationship Id="rId1" Type="http://schemas.openxmlformats.org/officeDocument/2006/relationships/video" Target="\ppt\media\embedded6.mp4" TargetMode="External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audio" Target="\ppt\media\embedded7.m4a" TargetMode="External"/><Relationship Id="rIdOfficeMedia7" Type="http://schemas.microsoft.com/office/2007/relationships/media" Target="../media/embedded7.m4a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video" Target="\ppt\media\embedded8.mp4" TargetMode="External"/><Relationship Id="rIdOfficeMedia8" Type="http://schemas.microsoft.com/office/2007/relationships/media" Target="../media/embedded8.mp4"/><Relationship Id="rId4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\ppt\media\embedded10.m4a" TargetMode="External"/><Relationship Id="rId1" Type="http://schemas.openxmlformats.org/officeDocument/2006/relationships/audio" Target="\ppt\media\embedded9.m4a" TargetMode="External"/><Relationship Id="rIdOfficeMedia9" Type="http://schemas.microsoft.com/office/2007/relationships/media" Target="../media/embedded9.m4a"/><Relationship Id="rId5" Type="http://schemas.openxmlformats.org/officeDocument/2006/relationships/image" Target="../media/image14.jpeg"/><Relationship Id="rIdOfficeMedia10" Type="http://schemas.microsoft.com/office/2007/relationships/media" Target="../media/embedded10.m4a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audio" Target="\ppt\media\embedded11.m4a" TargetMode="External"/><Relationship Id="rIdOfficeMedia11" Type="http://schemas.microsoft.com/office/2007/relationships/media" Target="../media/embedded11.m4a"/><Relationship Id="rId4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OfficeMedia12" Type="http://schemas.microsoft.com/office/2007/relationships/media" Target="../media/embedded12.mp4"/><Relationship Id="rId2" Type="http://schemas.openxmlformats.org/officeDocument/2006/relationships/slideLayout" Target="../slideLayouts/slideLayout6.xml"/><Relationship Id="rId1" Type="http://schemas.openxmlformats.org/officeDocument/2006/relationships/video" Target="\ppt\media\embedded12.mp4" TargetMode="External"/><Relationship Id="rId4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448497-2EBB-46B1-AF23-363CEB71DDE1}"/>
              </a:ext>
            </a:extLst>
          </p:cNvPr>
          <p:cNvSpPr>
            <a:spLocks noGrp="1"/>
          </p:cNvSpPr>
          <p:nvPr/>
        </p:nvSpPr>
        <p:spPr>
          <a:xfrm>
            <a:off x="571500" y="5095875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听见《末代皇帝》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801A24-D28E-4D3E-AE76-0E2264874772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音乐主题、人物与时代</a:t>
            </a:r>
            <a:endParaRPr sz="2400" b="0">
              <a:solidFill>
                <a:srgbClr val="D5B16B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OPENING_VIDEO">
            <a:hlinkClick r:id="" action="ppaction://media"/>
            <a:extLst>
              <a:ext uri="{FF2B5EF4-FFF2-40B4-BE49-F238E27FC236}">
                <a16:creationId xmlns:a16="http://schemas.microsoft.com/office/drawing/2014/main" id="{A6A94817-A695-7916-6F2D-C29B1B8E20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96492" y="0"/>
            <a:ext cx="8398933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08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998520-69F1-482A-A169-0939204CF40D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影片资料：一部跨国合作的历史传记片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C1C402-1C20-4FB0-AC7B-70F3865DFA19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1987年　导演：贝尔纳多·贝托鲁奇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EA845-BDFC-4EC4-B0F4-45A477BAEF0F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主演：尊龙、陈冲、彼得·奥图尔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AD5CCB-7384-44D6-941E-C59658C4B47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摄影：维托里奥·斯托拉罗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76646E-C749-4FBE-BC6C-5627FA1B2A94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原创配乐：坂本龙一、David Byrne、苏聪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6D237-E431-42FE-8088-6362EF298652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935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C2600A-0C91-4743-82A7-73D38B1656F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上映、票房与奖项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7FFE99-C624-46A2-B657-5B88346B67E5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北美公映：1987年11月20日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D22123-237A-409B-800D-869CC749E093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北美累计票房：43,984,230美元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B62F8F-866A-479E-A7DF-E4244D0558E6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1988年第60届奥斯卡：9项提名，9项获奖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C755B9-DD68-4BFD-8DF7-B417C63C7582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其中包括最佳影片、导演、摄影与原创配乐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F48A9-6519-4D8A-ACC8-30504CED2149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61398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65F655-210F-463A-BF81-6DBFB1048C9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评论如何评价它？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888EF-C554-4304-BA34-8C7F54F6C552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Ebert：个人行动与庞大秩序之间的反差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61F6E-19DF-4D72-B380-E5AB73447FFE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Thomson：史诗场面中的日常细节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1A978B-1989-4F2D-BE2E-FB60627D0CCC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Kempley：对华丽形式与戏剧张力提出质疑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43B27C-6991-4B65-A922-8644B680D090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行业荣誉、评论观点与个人感受分别讨论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10E1E9-012F-43AE-B62B-802E4A186EA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29255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752A1D-33F4-4236-AB12-0EA67A13A1A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故事：皇帝身份怎样改变？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806705-82E2-4EC9-B04C-9B1E8C1CB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113359"/>
            <a:ext cx="6191250" cy="263128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19441F-3FDD-4435-8D5C-47ECF517AE72}"/>
              </a:ext>
            </a:extLst>
          </p:cNvPr>
          <p:cNvSpPr>
            <a:spLocks noGrp="1"/>
          </p:cNvSpPr>
          <p:nvPr/>
        </p:nvSpPr>
        <p:spPr>
          <a:xfrm>
            <a:off x="7239000" y="1476375"/>
            <a:ext cx="4286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幼年登基，在宫城内成长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F164A5-AA7B-442B-B754-CE641D86B941}"/>
              </a:ext>
            </a:extLst>
          </p:cNvPr>
          <p:cNvSpPr>
            <a:spLocks noGrp="1"/>
          </p:cNvSpPr>
          <p:nvPr/>
        </p:nvSpPr>
        <p:spPr>
          <a:xfrm>
            <a:off x="7239000" y="2352675"/>
            <a:ext cx="4286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离宫后谋求复辟，成为伪满洲国傀儡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37508-8F0F-485C-BEDE-607BCD754F65}"/>
              </a:ext>
            </a:extLst>
          </p:cNvPr>
          <p:cNvSpPr>
            <a:spLocks noGrp="1"/>
          </p:cNvSpPr>
          <p:nvPr/>
        </p:nvSpPr>
        <p:spPr>
          <a:xfrm>
            <a:off x="7239000" y="3228975"/>
            <a:ext cx="4286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战后被囚、改造，成为普通公民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FD8726-E67E-4934-850E-3F51F003203E}"/>
              </a:ext>
            </a:extLst>
          </p:cNvPr>
          <p:cNvSpPr>
            <a:spLocks noGrp="1"/>
          </p:cNvSpPr>
          <p:nvPr/>
        </p:nvSpPr>
        <p:spPr>
          <a:xfrm>
            <a:off x="7239000" y="4105275"/>
            <a:ext cx="4286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晚年重新走进已开放的故宫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DEC7D9-05DF-41D2-BA6F-6916F0CB283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6416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864BF3-D622-402C-84F3-DEF49D85DFA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叙事：囚禁中的现在，通向过去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B755CB-60ED-44AB-B654-CC6D1B67E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113359"/>
            <a:ext cx="6191250" cy="263128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C5A3D4-89B4-4BDC-94DC-326D38A656D1}"/>
              </a:ext>
            </a:extLst>
          </p:cNvPr>
          <p:cNvSpPr>
            <a:spLocks noGrp="1"/>
          </p:cNvSpPr>
          <p:nvPr/>
        </p:nvSpPr>
        <p:spPr>
          <a:xfrm>
            <a:off x="7239000" y="1476375"/>
            <a:ext cx="4286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1950年的囚禁生活，构成回忆的入口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B83F24-E289-484C-87B7-9B486361B4B1}"/>
              </a:ext>
            </a:extLst>
          </p:cNvPr>
          <p:cNvSpPr>
            <a:spLocks noGrp="1"/>
          </p:cNvSpPr>
          <p:nvPr/>
        </p:nvSpPr>
        <p:spPr>
          <a:xfrm>
            <a:off x="7239000" y="2352675"/>
            <a:ext cx="4286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童年、宫廷与伪满经历逐步展开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E7A91-BD0C-4428-A789-1E142225EBD1}"/>
              </a:ext>
            </a:extLst>
          </p:cNvPr>
          <p:cNvSpPr>
            <a:spLocks noGrp="1"/>
          </p:cNvSpPr>
          <p:nvPr/>
        </p:nvSpPr>
        <p:spPr>
          <a:xfrm>
            <a:off x="7239000" y="3228975"/>
            <a:ext cx="4286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音乐可以跨过剪辑，组织时间的连续感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DDB45-8849-451C-BD7D-DE127758B1F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89424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06DA2B-C9B5-4AAB-A934-A7C613D56F9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画面提供处境，音乐赋予时间感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D90736-BAE7-49B6-803E-525E12D1E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77578"/>
            <a:ext cx="5238750" cy="22264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B994AF-5C91-4B7A-A030-65F8BB3B32DD}"/>
              </a:ext>
            </a:extLst>
          </p:cNvPr>
          <p:cNvSpPr>
            <a:spLocks noGrp="1"/>
          </p:cNvSpPr>
          <p:nvPr/>
        </p:nvSpPr>
        <p:spPr>
          <a:xfrm>
            <a:off x="571500" y="4171950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人物与宫城的比例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1D1D9-789B-4F88-B09F-EE6C16B75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1577578"/>
            <a:ext cx="5238750" cy="22264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0E25D07-9E3E-4FDF-86ED-AAAE72579991}"/>
              </a:ext>
            </a:extLst>
          </p:cNvPr>
          <p:cNvSpPr>
            <a:spLocks noGrp="1"/>
          </p:cNvSpPr>
          <p:nvPr/>
        </p:nvSpPr>
        <p:spPr>
          <a:xfrm>
            <a:off x="6191250" y="4171950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外部生活进入宫墙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C15E1-5956-461C-8A21-CB378C4999C3}"/>
              </a:ext>
            </a:extLst>
          </p:cNvPr>
          <p:cNvSpPr>
            <a:spLocks noGrp="1"/>
          </p:cNvSpPr>
          <p:nvPr/>
        </p:nvSpPr>
        <p:spPr>
          <a:xfrm>
            <a:off x="571500" y="49530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远景、宫门：人物与制度空间的关系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17D909-60E0-4FAC-A4E1-CA9110E61869}"/>
              </a:ext>
            </a:extLst>
          </p:cNvPr>
          <p:cNvSpPr>
            <a:spLocks noGrp="1"/>
          </p:cNvSpPr>
          <p:nvPr/>
        </p:nvSpPr>
        <p:spPr>
          <a:xfrm>
            <a:off x="571500" y="557212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红墙、绿色物件：人生阶段与外部世界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C8240F-0314-4E2D-9D6D-5099567CE52B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6063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B1CB69-F728-4EC4-8E00-8A6B977E713E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三位作曲者的分工与经验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B36095-085C-417B-B739-089801E52E1F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坂本龙一：电子音乐经验与管弦乐创作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0B81E0-0D6B-45B9-A0FF-BA6B5E8C2652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David Byrne：片头Main Title Theme等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E566BD-2F28-4DF4-9B81-C71271D006CD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苏聪：中国音乐创作与影片配乐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E8C02-7B7E-4110-847B-B20079A46490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听到“中国感”，还要追问音乐如何构成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592CD2-6E0E-469C-8548-6E56B37ADCA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40648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205C40-D6A8-4C82-BB9E-3ABDA576EA2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创作背景：音乐怎样进入电影？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56FC88-880B-4167-8F6F-A3E0268655B2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坂本龙一先作为演员参与拍摄</a:t>
            </a:r>
            <a:endParaRPr sz="2475" b="0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FD6F9-DBD2-4942-8432-E3B0D7454C0A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访谈回忆：短期写作，并寻找中国乐手录音</a:t>
            </a:r>
            <a:endParaRPr sz="2475" b="0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F97E3-CB47-4E77-B2D6-F61DCC59E939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原声曲目与电影中的剪辑位置需要对应</a:t>
            </a:r>
            <a:endParaRPr sz="2475" b="0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00AD2E-A875-491A-A042-B76F85E8212B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录音与电子制作共同参与；稍后结合主题变奏展开</a:t>
            </a:r>
            <a:endParaRPr sz="2475" b="0">
              <a:solidFill>
                <a:srgbClr val="D5B1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1A8BDA-E644-4BC7-99ED-1CD56F199A59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0938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99E0AE-6206-4DE4-90DB-DC578EF23B3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Main Title Theme：先听，再看</a:t>
            </a:r>
          </a:p>
        </p:txBody>
      </p:sp>
      <p:pic>
        <p:nvPicPr>
          <p:cNvPr id="2" name="MEDIA_9">
            <a:extLst>
              <a:ext uri="{FF2B5EF4-FFF2-40B4-BE49-F238E27FC236}">
                <a16:creationId xmlns:a16="http://schemas.microsoft.com/office/drawing/2014/main" id="{9350B688-9B8D-4A62-BE61-5FDB1B49A82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1"/>
              </p:ext>
            </p:extLst>
          </p:nvPr>
        </p:nvPicPr>
        <p:blipFill>
          <a:blip r:embed="rId4"/>
          <a:stretch/>
        </p:blipFill>
        <p:spPr>
          <a:xfrm>
            <a:off x="571500" y="1726406"/>
            <a:ext cx="6667500" cy="28336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CC4835-BED5-4EA8-BF83-61DC9E170F9E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先留意重复的节奏与加入的声部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46EBD-F1CA-4F53-81A0-2BD2B87A306B}"/>
              </a:ext>
            </a:extLst>
          </p:cNvPr>
          <p:cNvSpPr>
            <a:spLocks noGrp="1"/>
          </p:cNvSpPr>
          <p:nvPr/>
        </p:nvSpPr>
        <p:spPr>
          <a:xfrm>
            <a:off x="7715250" y="3000375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宫殿画面出现后，你的联想改变了吗？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1400B2-11D5-4E13-80E0-B2869689CEA2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点击画面播放原声摘录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09BFC-D39D-4102-BCB6-FB1C5D424BE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17235931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0473CE-F16B-4D27-ACB5-4EFC4BF5689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“故宫音色”可以拆成哪些问题？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267EAB-781D-42EB-AB13-2E7D3BD99699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音色：起音、滑动、持续音与颗粒感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DBBB50-3E3F-49A5-B55F-85BE04FCC3B5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组织：旋律、节奏、织体与力度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4D8D3-E3E6-4BDF-B522-A7A14BC5D2E8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组合：中国乐器、管弦乐和电子制作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48564-EAFD-4603-951E-F10D039C8666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语境：宫殿画面与听众的文化经验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5A497C-4F32-41F8-BBAB-942CC40FF81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25110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33E1D2-29EC-4E32-9F47-8E848B3BF88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Open the Door：一个可辨认的主题</a:t>
            </a:r>
          </a:p>
        </p:txBody>
      </p:sp>
      <p:pic>
        <p:nvPicPr>
          <p:cNvPr id="2" name="MEDIA_11">
            <a:extLst>
              <a:ext uri="{FF2B5EF4-FFF2-40B4-BE49-F238E27FC236}">
                <a16:creationId xmlns:a16="http://schemas.microsoft.com/office/drawing/2014/main" id="{B9D0724C-291F-44AE-937B-548581B28F6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2"/>
              </p:ext>
            </p:extLst>
          </p:nvPr>
        </p:nvPicPr>
        <p:blipFill>
          <a:blip r:embed="rId4"/>
          <a:stretch/>
        </p:blipFill>
        <p:spPr>
          <a:xfrm>
            <a:off x="571500" y="1726406"/>
            <a:ext cx="6667500" cy="28336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4CAAD7C-6F62-4EAA-961E-1C4D2258EEC6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原声曲目：Open the Door　坂本龙一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F5581-8841-4016-834D-83582DE62D14}"/>
              </a:ext>
            </a:extLst>
          </p:cNvPr>
          <p:cNvSpPr>
            <a:spLocks noGrp="1"/>
          </p:cNvSpPr>
          <p:nvPr/>
        </p:nvSpPr>
        <p:spPr>
          <a:xfrm>
            <a:off x="7715250" y="3000375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先记住开头乐句，再看它怎样进入回忆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852EA2-AE40-4C16-AE8B-0E36C2EFF37E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点击画面播放原声摘录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351BC-DF11-41EA-A8B0-5FC30435FA58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69050235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FD0420-34DD-4086-A4B8-4A226639D2CD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音乐怎样把成年与童年接起来？</a:t>
            </a:r>
          </a:p>
        </p:txBody>
      </p:sp>
      <p:pic>
        <p:nvPicPr>
          <p:cNvPr id="2" name="MEDIA_12">
            <a:extLst>
              <a:ext uri="{FF2B5EF4-FFF2-40B4-BE49-F238E27FC236}">
                <a16:creationId xmlns:a16="http://schemas.microsoft.com/office/drawing/2014/main" id="{EDBC5771-0F52-476B-A407-5388E260D80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3"/>
              </p:ext>
            </p:extLst>
          </p:nvPr>
        </p:nvPicPr>
        <p:blipFill>
          <a:blip r:embed="rId4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676C93-E6C9-4200-9251-A3A9560B99FB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先找画面的时间跳转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1A149A-4ADD-4804-8B09-5650D65A1576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再听声音何时改变、何时延续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D3F8A6-06D6-4BA3-9993-53A62B504CDE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02_首次回忆转场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4340E-D89A-473C-B0A1-2B184A989D3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2704967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3E9282-DC13-45E8-9915-ABD1C282488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主题重现：从曲名走向叙事线索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8107EE-6936-43D2-9870-1BCA9B6ADD3A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第一次：先建立可记忆的音乐材料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1E4B3-B818-4019-99DD-B38CC100073C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再出现：比较场景、节奏与音色的改变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89BCEC-5412-4DF9-842B-4BC7C0BF087E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人物处境改变，音乐联系带回先前记忆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AC6653-562E-44C2-84B0-EB0DD131B08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50160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D7295E-792C-4C53-B64D-DA0E1B7E0E4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Where Is Armo?：先听行进感</a:t>
            </a:r>
          </a:p>
        </p:txBody>
      </p:sp>
      <p:pic>
        <p:nvPicPr>
          <p:cNvPr id="2" name="MEDIA_14">
            <a:extLst>
              <a:ext uri="{FF2B5EF4-FFF2-40B4-BE49-F238E27FC236}">
                <a16:creationId xmlns:a16="http://schemas.microsoft.com/office/drawing/2014/main" id="{F18E9637-51C6-4DC2-97BB-EF14072F8C0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4"/>
              </p:ext>
            </p:extLst>
          </p:nvPr>
        </p:nvPicPr>
        <p:blipFill>
          <a:blip r:embed="rId4"/>
          <a:stretch/>
        </p:blipFill>
        <p:spPr>
          <a:xfrm>
            <a:off x="571500" y="1726406"/>
            <a:ext cx="6667500" cy="28336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23DC0D-A7C0-4CC1-ADC9-1F920C01045A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原声曲目：Where Is Armo?　坂本龙一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37D966-1D05-4BAF-9734-9FFB2FEEDCCB}"/>
              </a:ext>
            </a:extLst>
          </p:cNvPr>
          <p:cNvSpPr>
            <a:spLocks noGrp="1"/>
          </p:cNvSpPr>
          <p:nvPr/>
        </p:nvSpPr>
        <p:spPr>
          <a:xfrm>
            <a:off x="7715250" y="3000375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听底层的推进与上层旋律如何配合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F5B121-1ED2-40A5-A0BE-27978AA546E6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点击画面播放原声摘录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85208-C1C0-421A-AE1F-0C1CB263097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10825247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161A3A-8BD0-4CF9-A0B2-E0FCBB81C7A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追阿嬷：音乐怎样组织奔跑？</a:t>
            </a:r>
          </a:p>
        </p:txBody>
      </p:sp>
      <p:pic>
        <p:nvPicPr>
          <p:cNvPr id="2" name="MEDIA_15">
            <a:extLst>
              <a:ext uri="{FF2B5EF4-FFF2-40B4-BE49-F238E27FC236}">
                <a16:creationId xmlns:a16="http://schemas.microsoft.com/office/drawing/2014/main" id="{DF568650-2A43-4D05-92CC-93F93BC724B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5"/>
              </p:ext>
            </p:extLst>
          </p:nvPr>
        </p:nvPicPr>
        <p:blipFill>
          <a:blip r:embed="rId4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46EF48-F0B9-4995-B967-3D0396E1B2D4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动作：奔跑、呼喊与追随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B82E63-E766-4C5C-9499-EF258833F96F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声音：旋律推进、台词和停顿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B6EFCD-DE32-42E1-9C6E-37650CEE757B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05_追阿嬷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8BD48-5EC2-4AA6-BB5B-3B5C7055D6B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528001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1EBE4C-6401-424F-93D1-D223DB4AF3F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追婉容：相似的行动，改变了的处境</a:t>
            </a:r>
          </a:p>
        </p:txBody>
      </p:sp>
      <p:pic>
        <p:nvPicPr>
          <p:cNvPr id="2" name="MEDIA_16">
            <a:extLst>
              <a:ext uri="{FF2B5EF4-FFF2-40B4-BE49-F238E27FC236}">
                <a16:creationId xmlns:a16="http://schemas.microsoft.com/office/drawing/2014/main" id="{12D55F13-9D58-473E-A466-290EF6B2A46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6"/>
              </p:ext>
            </p:extLst>
          </p:nvPr>
        </p:nvPicPr>
        <p:blipFill>
          <a:blip r:embed="rId4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591763-3896-4EFC-B40D-0CA501842B64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又一次追逐，又一次要求开门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D54540-66EF-461A-B3C8-5ED841919793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比较音乐材料，也比较声音与动作的关系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CE4DFF-107D-4EB7-9FE4-30015D43C30B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10_追婉容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C6BC69-FD88-4CC2-A36D-44C78D640ED8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7409077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5C2F0D-3A92-48D1-BCD0-28FD2B8586E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比较的重点：音乐在哪里加强了动作？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B530EA-3E6B-442C-9A20-E35FAFB068E1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节奏：与奔跑同向推进，还是保持自己的速度？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F8EABB-962B-47DF-B126-246E5358DEC9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情绪：与人物感受相近，还是形成距离？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48D787-B594-4AB4-A0A4-DC9DE2D82B1B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剪辑：连续、停顿与重现怎样组织段落？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AE68D6-AA35-46C3-9771-CC1C7755FAEB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58776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C8A459-DA77-4104-8669-92540F1BC65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Rain：先听音乐自身的表达</a:t>
            </a:r>
          </a:p>
        </p:txBody>
      </p:sp>
      <p:pic>
        <p:nvPicPr>
          <p:cNvPr id="2" name="MEDIA_18">
            <a:extLst>
              <a:ext uri="{FF2B5EF4-FFF2-40B4-BE49-F238E27FC236}">
                <a16:creationId xmlns:a16="http://schemas.microsoft.com/office/drawing/2014/main" id="{BB85D37C-885A-46F9-9A9D-F3C8CE7589F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7"/>
              </p:ext>
            </p:extLst>
          </p:nvPr>
        </p:nvPicPr>
        <p:blipFill>
          <a:blip r:embed="rId4"/>
          <a:stretch/>
        </p:blipFill>
        <p:spPr>
          <a:xfrm>
            <a:off x="571500" y="1726406"/>
            <a:ext cx="6667500" cy="28336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1C07E7E-2DF0-4A2C-9FBF-DC2A8C054E1D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Rain (I Want a Divorce)　坂本龙一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520EFD-63B8-4BFF-858E-3CB2F152C40B}"/>
              </a:ext>
            </a:extLst>
          </p:cNvPr>
          <p:cNvSpPr>
            <a:spLocks noGrp="1"/>
          </p:cNvSpPr>
          <p:nvPr/>
        </p:nvSpPr>
        <p:spPr>
          <a:xfrm>
            <a:off x="7715250" y="3000375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暂时离开画面，听旋律、力度与空间感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18405-8D01-4B7E-93F8-B79080B125A0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点击画面播放原声摘录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28AF37-1A74-4245-A913-A85511ED506B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01536185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262401-9FBA-4E0D-99BD-E73E670A82F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文绣离开：雨声、动作与配乐</a:t>
            </a:r>
          </a:p>
        </p:txBody>
      </p:sp>
      <p:pic>
        <p:nvPicPr>
          <p:cNvPr id="2" name="MEDIA_19">
            <a:extLst>
              <a:ext uri="{FF2B5EF4-FFF2-40B4-BE49-F238E27FC236}">
                <a16:creationId xmlns:a16="http://schemas.microsoft.com/office/drawing/2014/main" id="{514F0522-F690-40B4-A9FE-61D2982F447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8"/>
              </p:ext>
            </p:extLst>
          </p:nvPr>
        </p:nvPicPr>
        <p:blipFill>
          <a:blip r:embed="rId4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2F14A3-0879-4687-B738-6C3F10BEDB56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离婚的选择，通过动作落实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73C051-5E6A-4204-8BF8-AD45F1749A4A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声音怎样使“离开”获得不同意味？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0B6D0-2575-41A8-AAA4-A6CD7291CC15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09_雨中离开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A112E7-C51C-4619-918A-7749C920CF48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1869337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645805-9A3B-43AD-BD0A-C4B0CAFE272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主题与变奏：同一材料的不同面貌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AB28F3-4CA9-4599-98BD-47DA65FCE28A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A　Theme Variation 2　30秒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ECF3F0-E87A-40A7-8BE0-891EAFEAFA83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B　The Last Emperor (Theme)　35秒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091688-57DB-4153-8687-C532535B9CA8}"/>
              </a:ext>
            </a:extLst>
          </p:cNvPr>
          <p:cNvSpPr>
            <a:spLocks noGrp="1"/>
          </p:cNvSpPr>
          <p:nvPr/>
        </p:nvSpPr>
        <p:spPr>
          <a:xfrm>
            <a:off x="571500" y="25527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先找旋律联系，再比较编配与音色</a:t>
            </a:r>
          </a:p>
        </p:txBody>
      </p:sp>
      <p:pic>
        <p:nvPicPr>
          <p:cNvPr id="5" name="MEDIA_20">
            <a:extLst>
              <a:ext uri="{FF2B5EF4-FFF2-40B4-BE49-F238E27FC236}">
                <a16:creationId xmlns:a16="http://schemas.microsoft.com/office/drawing/2014/main" id="{8FB4171E-3743-4D1D-A23A-50831C59CDD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9"/>
              </p:ext>
            </p:extLst>
          </p:nvPr>
        </p:nvPicPr>
        <p:blipFill>
          <a:blip r:embed="rId5"/>
          <a:stretch/>
        </p:blipFill>
        <p:spPr>
          <a:xfrm>
            <a:off x="762000" y="3524250"/>
            <a:ext cx="2190750" cy="2190750"/>
          </a:xfrm>
          <a:prstGeom prst="rect">
            <a:avLst/>
          </a:prstGeom>
        </p:spPr>
      </p:pic>
      <p:pic>
        <p:nvPicPr>
          <p:cNvPr id="6" name="MEDIA_20_b">
            <a:extLst>
              <a:ext uri="{FF2B5EF4-FFF2-40B4-BE49-F238E27FC236}">
                <a16:creationId xmlns:a16="http://schemas.microsoft.com/office/drawing/2014/main" id="{C9E181C2-CC10-4312-B909-903ABB72AA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10"/>
              </p:ext>
            </p:extLst>
          </p:nvPr>
        </p:nvPicPr>
        <p:blipFill>
          <a:blip r:embed="rId5"/>
          <a:stretch/>
        </p:blipFill>
        <p:spPr>
          <a:xfrm>
            <a:off x="6477000" y="3524250"/>
            <a:ext cx="2190750" cy="2190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A3211ED-86C3-4F6F-9414-460E5B715E43}"/>
              </a:ext>
            </a:extLst>
          </p:cNvPr>
          <p:cNvSpPr>
            <a:spLocks noGrp="1"/>
          </p:cNvSpPr>
          <p:nvPr/>
        </p:nvSpPr>
        <p:spPr>
          <a:xfrm>
            <a:off x="3238500" y="3905250"/>
            <a:ext cx="2952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A　Theme Variation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2C6988-1ADF-4220-A4CF-42ECA80D761B}"/>
              </a:ext>
            </a:extLst>
          </p:cNvPr>
          <p:cNvSpPr>
            <a:spLocks noGrp="1"/>
          </p:cNvSpPr>
          <p:nvPr/>
        </p:nvSpPr>
        <p:spPr>
          <a:xfrm>
            <a:off x="8953500" y="3905250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B　Theme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AD98A4-EEEE-431E-9682-2CD013E155B5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点击封面播放对应原声摘录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44C77-18A8-422B-982E-3F6A20B843A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07576639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205C40-D6A8-4C82-BB9E-3ABDA576EA2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合成乐：声音怎样被制作出来？</a:t>
            </a:r>
            <a:endParaRPr sz="3300" b="1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56FC88-880B-4167-8F6F-A3E0268655B2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合成：用电子方式生成、塑造声音</a:t>
            </a:r>
            <a:endParaRPr sz="2475" b="0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FD6F9-DBD2-4942-8432-E3B0D7454C0A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采样：录入已有声音，再触发和处理</a:t>
            </a:r>
            <a:endParaRPr sz="2475" b="0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F97E3-CB47-4E77-B2D6-F61DCC59E939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编序：安排声音出现的次序与节奏</a:t>
            </a:r>
            <a:endParaRPr sz="2475" b="0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00AD2E-A875-491A-A042-B76F85E8212B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Fairlight CMI</a:t>
            </a:r>
            <a:r>
              <a:rPr lang="zh-CN" altLang="en-US"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把这些功能结合在同一系统中</a:t>
            </a:r>
            <a:endParaRPr sz="2475" b="0">
              <a:solidFill>
                <a:srgbClr val="D5B1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1A8BDA-E644-4BC7-99ED-1CD56F199A59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94306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205C40-D6A8-4C82-BB9E-3ABDA576EA2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管弦乐与电子音色：怎样一起表达？</a:t>
            </a:r>
            <a:endParaRPr sz="3300" b="1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56FC88-880B-4167-8F6F-A3E0268655B2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《Variation 2》</a:t>
            </a:r>
            <a:r>
              <a:rPr lang="zh-CN" alt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提供主题与音色的比较入口</a:t>
            </a:r>
            <a:endParaRPr sz="2475" b="0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FD6F9-DBD2-4942-8432-E3B0D7454C0A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比较起音、延音、声部叠置与空间感</a:t>
            </a:r>
            <a:endParaRPr sz="2475" b="0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F97E3-CB47-4E77-B2D6-F61DCC59E939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电子声音可延展质感，管弦乐也能持续、反复</a:t>
            </a:r>
            <a:endParaRPr sz="2475" b="0">
              <a:solidFill>
                <a:srgbClr val="F1E7D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00AD2E-A875-491A-A042-B76F85E8212B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“宏大与孤寂”要回到具体声音与画面解释</a:t>
            </a:r>
            <a:endParaRPr sz="2475" b="0">
              <a:solidFill>
                <a:srgbClr val="D5B1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1A8BDA-E644-4BC7-99ED-1CD56F199A59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23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6954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3A75A4-0EC8-41E2-86C6-9CCAA65D438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First Coronation：带着记忆再听一次</a:t>
            </a:r>
          </a:p>
        </p:txBody>
      </p:sp>
      <p:pic>
        <p:nvPicPr>
          <p:cNvPr id="2" name="MEDIA_21">
            <a:extLst>
              <a:ext uri="{FF2B5EF4-FFF2-40B4-BE49-F238E27FC236}">
                <a16:creationId xmlns:a16="http://schemas.microsoft.com/office/drawing/2014/main" id="{E7948252-E70F-4749-8FF6-964AA61C490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11"/>
              </p:ext>
            </p:extLst>
          </p:nvPr>
        </p:nvPicPr>
        <p:blipFill>
          <a:blip r:embed="rId4"/>
          <a:stretch/>
        </p:blipFill>
        <p:spPr>
          <a:xfrm>
            <a:off x="571500" y="1726406"/>
            <a:ext cx="6667500" cy="28336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C370FF-08F5-4E37-9D62-352048E766C9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First Coronation　坂本龙一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C0BA40-8652-432B-A701-A470CF908126}"/>
              </a:ext>
            </a:extLst>
          </p:cNvPr>
          <p:cNvSpPr>
            <a:spLocks noGrp="1"/>
          </p:cNvSpPr>
          <p:nvPr/>
        </p:nvSpPr>
        <p:spPr>
          <a:xfrm>
            <a:off x="7715250" y="3000375"/>
            <a:ext cx="3810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先听35秒，再看晚年重返宫殿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4EAC2E-9FAD-437D-AD88-2C7A9BEB5230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点击画面播放原声摘录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B87103-49E5-4AE8-A23E-A56AA9AC4733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24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20569729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8461B6-C278-4538-AE2C-3F191211FCC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重返龙椅：音乐与身份的记忆</a:t>
            </a:r>
          </a:p>
        </p:txBody>
      </p:sp>
      <p:pic>
        <p:nvPicPr>
          <p:cNvPr id="2" name="MEDIA_22">
            <a:extLst>
              <a:ext uri="{FF2B5EF4-FFF2-40B4-BE49-F238E27FC236}">
                <a16:creationId xmlns:a16="http://schemas.microsoft.com/office/drawing/2014/main" id="{C0DA3647-9F0D-4DD0-9003-6A01FBB8F4F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5B9D-4661-A4F6-83A2F4AD3B91}">
                <p14:media xmlns:p14="http://schemas.microsoft.com/office/powerpoint/2010/main" xmlns:ns2="http://schemas.microsoft.com/office/drawing/2014/main" xmlns="" r:embed="rIdOfficeMedia12"/>
              </p:ext>
            </p:extLst>
          </p:nvPr>
        </p:nvPicPr>
        <p:blipFill>
          <a:blip r:embed="rId4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E5030F-F6B8-4730-B570-942239F23A62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昔日皇帝，向孩子说明自己的过去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C3112A-C889-4116-B24B-45BF933FA31C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宏大空间中的小物件，把记忆带回来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644964-803B-4278-A50C-B7A1FF8AE890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13_龙椅与蝈蝈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2C562-6BE0-4BC0-9D6F-A320CF9B92C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25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4154721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240C30-0627-4F58-B14B-40B7D1702C3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音乐的作用，放回整个声音结构里看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1942A7-1323-44FC-ABEC-B8BAA699C49B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有源／无源：音乐与故事空间的关系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594E37-0186-4B9A-8A91-7BE430C68916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过渡与重现：连接镜头、时间和记忆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BCE09C-359C-4D9C-8EEF-A7567AB19035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静默：声音停顿，把注意力交给另一层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1E9276-2DBA-444D-A49F-0B416892B2BC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26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04287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2F1003-B084-41CF-8A6C-87D55E8D14A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我们的评价：音乐把史诗带回个人经验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22E325-B06C-4132-A088-9FC4D78C77FB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主题联系，让相隔很远的场景彼此呼应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FCAC1-01BC-422F-AE2B-7FE7445EBB33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编配与声画关系，使相似行动呈现不同意味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04DE43-5BF7-4F47-B6B3-B947D4C0BD16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音乐带来同情，也值得追问这种同情的方向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F98B3-ACE9-438F-97BA-9DA6853A94C1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27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67051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6F3E0E-AB05-4679-91BD-C8B0CF73339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讨论：你会选择哪一种听法？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12B34B-644F-409D-B33E-5FDDCC48F5B8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选一个片段，说出一处具体声音变化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6E29B2-6F3B-484C-8A6B-224924698364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它加强了画面，还是让你产生另一层理解？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3E2956-8539-4A34-AFC3-9F62092C9A10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如果去掉音乐，你对人物的判断会变吗？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B54102-8FEA-42FC-A834-ACB40E86037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28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73680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5C9F6F-E248-4A9D-9830-284ED374304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参考资料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84998E-28C5-46BA-9925-7E148DAEEA28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影片与数据：Criterion、奥斯卡官方、Box Office Mojo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EE44B3-F452-4969-8EAF-FB4CAC311A3B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创作背景：坂本龙一访谈、摄影师大师课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59D2D-653B-49FC-8094-A071831B7F4D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评论：Ebert、Thomson、Kempley、豆瓣、配乐专栏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7C133-93CF-40BD-9912-8DF3DA3FA45E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课程概念：讲义第三部分25—39、55—57页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FCCB1-01B7-48BE-B573-FF1BAE46081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29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80002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88C1D1-A580-4A4B-94B8-345FAFA32B0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答疑与回放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22EAD1-E1A5-4585-8505-2993DE7D5247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如何确认两段音乐材料相同或相近？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3D5607-222E-4A3E-A590-1400625B7DA2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怎样区分乐器音色与电子制作？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63DE63-7C19-41F7-86CE-60925D83500B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哪些段落连接了不同的时间或空间？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410C1-E5B2-4CCD-A958-A40DB65C637C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906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影片怎样表现人物，又怎样引导评价？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39DB98-7163-4E07-9CF3-223EED258009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30</a:t>
            </a:r>
            <a:endParaRPr sz="1200" b="0">
              <a:solidFill>
                <a:srgbClr val="B5AD9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10834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1950</Words>
  <Application>Microsoft Office PowerPoint</Application>
  <DocSecurity>0</DocSecurity>
  <PresentationFormat>Widescreen</PresentationFormat>
  <Paragraphs>192</Paragraphs>
  <Slides>30</Slides>
  <Notes>30</Notes>
  <HiddenSlides>0</HiddenSlides>
  <MMClips>13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Microsoft YaHei</vt:lpstr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Liqi Ding</cp:lastModifiedBy>
  <cp:revision>5</cp:revision>
  <dcterms:created xsi:type="dcterms:W3CDTF">2026-10-19T09:22:30Z</dcterms:created>
  <dcterms:modified xsi:type="dcterms:W3CDTF">2026-10-19T15:52:58Z</dcterms:modified>
</cp:coreProperties>
</file>