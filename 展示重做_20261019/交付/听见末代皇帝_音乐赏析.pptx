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Default Extension="mp4" ContentType="video/mp4"/>
  <Default Extension="m4a" ContentType="audio/mp4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75742ed674417e" /><Relationship Type="http://schemas.openxmlformats.org/officeDocument/2006/relationships/extended-properties" Target="/docProps/app.xml" Id="Rfbbe17bf6eae4a07" /><Relationship Type="http://schemas.openxmlformats.org/officeDocument/2006/relationships/officeDocument" Target="/ppt/presentation.xml" Id="R321684b47f9244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92b00adc4b4f97"/>
  </p:sldMasterIdLst>
  <p:notesMasterIdLst>
    <p:notesMasterId xmlns:r="http://schemas.openxmlformats.org/officeDocument/2006/relationships" r:id="R7b4a567ce11f45fd"/>
  </p:notesMasterIdLst>
  <p:sldIdLst>
    <p:sldId xmlns:r="http://schemas.openxmlformats.org/officeDocument/2006/relationships" id="256" r:id="R38c6b95ab1fb4ccf"/>
    <p:sldId xmlns:r="http://schemas.openxmlformats.org/officeDocument/2006/relationships" id="257" r:id="R43860e6046054ab0"/>
    <p:sldId xmlns:r="http://schemas.openxmlformats.org/officeDocument/2006/relationships" id="258" r:id="R769577d13ecb4188"/>
    <p:sldId xmlns:r="http://schemas.openxmlformats.org/officeDocument/2006/relationships" id="259" r:id="R2a0aca66aabb4ad4"/>
    <p:sldId xmlns:r="http://schemas.openxmlformats.org/officeDocument/2006/relationships" id="260" r:id="Rb14120ad960d4661"/>
    <p:sldId xmlns:r="http://schemas.openxmlformats.org/officeDocument/2006/relationships" id="261" r:id="R571aeb2570b34c55"/>
    <p:sldId xmlns:r="http://schemas.openxmlformats.org/officeDocument/2006/relationships" id="262" r:id="R473d0143770e4888"/>
    <p:sldId xmlns:r="http://schemas.openxmlformats.org/officeDocument/2006/relationships" id="263" r:id="Rdbeac56ae0314e0c"/>
    <p:sldId xmlns:r="http://schemas.openxmlformats.org/officeDocument/2006/relationships" id="264" r:id="Ra78065b720cc4987"/>
    <p:sldId xmlns:r="http://schemas.openxmlformats.org/officeDocument/2006/relationships" id="265" r:id="Ra2599f543a11450d"/>
    <p:sldId xmlns:r="http://schemas.openxmlformats.org/officeDocument/2006/relationships" id="266" r:id="R218990b9e12a4c3a"/>
    <p:sldId xmlns:r="http://schemas.openxmlformats.org/officeDocument/2006/relationships" id="267" r:id="R23dbaf79023f4594"/>
    <p:sldId xmlns:r="http://schemas.openxmlformats.org/officeDocument/2006/relationships" id="268" r:id="R7f822a926b2c4883"/>
    <p:sldId xmlns:r="http://schemas.openxmlformats.org/officeDocument/2006/relationships" id="269" r:id="R65c685cb1d7b4901"/>
    <p:sldId xmlns:r="http://schemas.openxmlformats.org/officeDocument/2006/relationships" id="270" r:id="Re2a2bfa8aad445ec"/>
    <p:sldId xmlns:r="http://schemas.openxmlformats.org/officeDocument/2006/relationships" id="271" r:id="R49c2143414ab4f2a"/>
    <p:sldId xmlns:r="http://schemas.openxmlformats.org/officeDocument/2006/relationships" id="272" r:id="R7ca32fcd84ea4475"/>
    <p:sldId xmlns:r="http://schemas.openxmlformats.org/officeDocument/2006/relationships" id="273" r:id="R31be603d6a0a44b1"/>
    <p:sldId xmlns:r="http://schemas.openxmlformats.org/officeDocument/2006/relationships" id="274" r:id="R34e29768b3fa498b"/>
    <p:sldId xmlns:r="http://schemas.openxmlformats.org/officeDocument/2006/relationships" id="275" r:id="R3e5604884dbd4707"/>
    <p:sldId xmlns:r="http://schemas.openxmlformats.org/officeDocument/2006/relationships" id="276" r:id="Rf70473cef95544f2"/>
    <p:sldId xmlns:r="http://schemas.openxmlformats.org/officeDocument/2006/relationships" id="277" r:id="Rd08a3abdd4a9457a"/>
    <p:sldId xmlns:r="http://schemas.openxmlformats.org/officeDocument/2006/relationships" id="278" r:id="R31ed6ccf182248a5"/>
    <p:sldId xmlns:r="http://schemas.openxmlformats.org/officeDocument/2006/relationships" id="279" r:id="Ra168ed177b964739"/>
    <p:sldId xmlns:r="http://schemas.openxmlformats.org/officeDocument/2006/relationships" id="280" r:id="R188263656a2c45b0"/>
    <p:sldId xmlns:r="http://schemas.openxmlformats.org/officeDocument/2006/relationships" id="281" r:id="Red240d442c8f4456"/>
    <p:sldId xmlns:r="http://schemas.openxmlformats.org/officeDocument/2006/relationships" id="282" r:id="R336c6dd10b2f41b9"/>
    <p:sldId xmlns:r="http://schemas.openxmlformats.org/officeDocument/2006/relationships" id="283" r:id="R77b333c6d50748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08ed78f0f5400b" /><Relationship Type="http://schemas.openxmlformats.org/officeDocument/2006/relationships/slideMaster" Target="/ppt/slideMasters/slideMaster1.xml" Id="Rfb92b00adc4b4f97" /><Relationship Type="http://schemas.openxmlformats.org/officeDocument/2006/relationships/notesMaster" Target="/ppt/notesMasters/notesMaster1.xml" Id="R7b4a567ce11f45fd" /><Relationship Type="http://schemas.openxmlformats.org/officeDocument/2006/relationships/presProps" Target="/ppt/presProps.xml" Id="Re068e32fd8594244" /><Relationship Type="http://schemas.openxmlformats.org/officeDocument/2006/relationships/tableStyles" Target="/ppt/tableStyles.xml" Id="R9fa246f3666d4ad4" /><Relationship Type="http://schemas.openxmlformats.org/officeDocument/2006/relationships/slide" Target="/ppt/slides/slide1.xml" Id="R38c6b95ab1fb4ccf" /><Relationship Type="http://schemas.openxmlformats.org/officeDocument/2006/relationships/slide" Target="/ppt/slides/slide2.xml" Id="R43860e6046054ab0" /><Relationship Type="http://schemas.openxmlformats.org/officeDocument/2006/relationships/slide" Target="/ppt/slides/slide3.xml" Id="R769577d13ecb4188" /><Relationship Type="http://schemas.openxmlformats.org/officeDocument/2006/relationships/slide" Target="/ppt/slides/slide4.xml" Id="R2a0aca66aabb4ad4" /><Relationship Type="http://schemas.openxmlformats.org/officeDocument/2006/relationships/slide" Target="/ppt/slides/slide5.xml" Id="Rb14120ad960d4661" /><Relationship Type="http://schemas.openxmlformats.org/officeDocument/2006/relationships/slide" Target="/ppt/slides/slide6.xml" Id="R571aeb2570b34c55" /><Relationship Type="http://schemas.openxmlformats.org/officeDocument/2006/relationships/slide" Target="/ppt/slides/slide7.xml" Id="R473d0143770e4888" /><Relationship Type="http://schemas.openxmlformats.org/officeDocument/2006/relationships/slide" Target="/ppt/slides/slide8.xml" Id="Rdbeac56ae0314e0c" /><Relationship Type="http://schemas.openxmlformats.org/officeDocument/2006/relationships/slide" Target="/ppt/slides/slide9.xml" Id="Ra78065b720cc4987" /><Relationship Type="http://schemas.openxmlformats.org/officeDocument/2006/relationships/slide" Target="/ppt/slides/slide10.xml" Id="Ra2599f543a11450d" /><Relationship Type="http://schemas.openxmlformats.org/officeDocument/2006/relationships/slide" Target="/ppt/slides/slide11.xml" Id="R218990b9e12a4c3a" /><Relationship Type="http://schemas.openxmlformats.org/officeDocument/2006/relationships/slide" Target="/ppt/slides/slide12.xml" Id="R23dbaf79023f4594" /><Relationship Type="http://schemas.openxmlformats.org/officeDocument/2006/relationships/slide" Target="/ppt/slides/slide13.xml" Id="R7f822a926b2c4883" /><Relationship Type="http://schemas.openxmlformats.org/officeDocument/2006/relationships/slide" Target="/ppt/slides/slide14.xml" Id="R65c685cb1d7b4901" /><Relationship Type="http://schemas.openxmlformats.org/officeDocument/2006/relationships/slide" Target="/ppt/slides/slide15.xml" Id="Re2a2bfa8aad445ec" /><Relationship Type="http://schemas.openxmlformats.org/officeDocument/2006/relationships/slide" Target="/ppt/slides/slide16.xml" Id="R49c2143414ab4f2a" /><Relationship Type="http://schemas.openxmlformats.org/officeDocument/2006/relationships/slide" Target="/ppt/slides/slide17.xml" Id="R7ca32fcd84ea4475" /><Relationship Type="http://schemas.openxmlformats.org/officeDocument/2006/relationships/slide" Target="/ppt/slides/slide18.xml" Id="R31be603d6a0a44b1" /><Relationship Type="http://schemas.openxmlformats.org/officeDocument/2006/relationships/slide" Target="/ppt/slides/slide19.xml" Id="R34e29768b3fa498b" /><Relationship Type="http://schemas.openxmlformats.org/officeDocument/2006/relationships/slide" Target="/ppt/slides/slide20.xml" Id="R3e5604884dbd4707" /><Relationship Type="http://schemas.openxmlformats.org/officeDocument/2006/relationships/slide" Target="/ppt/slides/slide21.xml" Id="Rf70473cef95544f2" /><Relationship Type="http://schemas.openxmlformats.org/officeDocument/2006/relationships/slide" Target="/ppt/slides/slide22.xml" Id="Rd08a3abdd4a9457a" /><Relationship Type="http://schemas.openxmlformats.org/officeDocument/2006/relationships/slide" Target="/ppt/slides/slide23.xml" Id="R31ed6ccf182248a5" /><Relationship Type="http://schemas.openxmlformats.org/officeDocument/2006/relationships/slide" Target="/ppt/slides/slide24.xml" Id="Ra168ed177b964739" /><Relationship Type="http://schemas.openxmlformats.org/officeDocument/2006/relationships/slide" Target="/ppt/slides/slide25.xml" Id="R188263656a2c45b0" /><Relationship Type="http://schemas.openxmlformats.org/officeDocument/2006/relationships/slide" Target="/ppt/slides/slide26.xml" Id="Red240d442c8f4456" /><Relationship Type="http://schemas.openxmlformats.org/officeDocument/2006/relationships/slide" Target="/ppt/slides/slide27.xml" Id="R336c6dd10b2f41b9" /><Relationship Type="http://schemas.openxmlformats.org/officeDocument/2006/relationships/slide" Target="/ppt/slides/slide28.xml" Id="R77b333c6d50748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c42a341bac47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0b61b8e35d4679" /><Relationship Type="http://schemas.openxmlformats.org/officeDocument/2006/relationships/notesMaster" Target="/ppt/notesMasters/notesMaster1.xml" Id="Rc4fdf34d906748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f7355f49434a5b" /><Relationship Type="http://schemas.openxmlformats.org/officeDocument/2006/relationships/notesMaster" Target="/ppt/notesMasters/notesMaster1.xml" Id="R3d70f3d791cb48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316b375191407c" /><Relationship Type="http://schemas.openxmlformats.org/officeDocument/2006/relationships/notesMaster" Target="/ppt/notesMasters/notesMaster1.xml" Id="R7e811d668b9041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eca3eefaae4b66" /><Relationship Type="http://schemas.openxmlformats.org/officeDocument/2006/relationships/notesMaster" Target="/ppt/notesMasters/notesMaster1.xml" Id="Rd9f24c355de241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3ed4c37bcc419b" /><Relationship Type="http://schemas.openxmlformats.org/officeDocument/2006/relationships/notesMaster" Target="/ppt/notesMasters/notesMaster1.xml" Id="Rc169b94cdade46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7018e69b474124" /><Relationship Type="http://schemas.openxmlformats.org/officeDocument/2006/relationships/notesMaster" Target="/ppt/notesMasters/notesMaster1.xml" Id="Rf3dd9f57c7bd4f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42dec09c8545b0" /><Relationship Type="http://schemas.openxmlformats.org/officeDocument/2006/relationships/notesMaster" Target="/ppt/notesMasters/notesMaster1.xml" Id="Rd2fcab01b0974f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ab9d3b3fbd4166" /><Relationship Type="http://schemas.openxmlformats.org/officeDocument/2006/relationships/notesMaster" Target="/ppt/notesMasters/notesMaster1.xml" Id="R6ff243fa23014d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683ecf68e54e47" /><Relationship Type="http://schemas.openxmlformats.org/officeDocument/2006/relationships/notesMaster" Target="/ppt/notesMasters/notesMaster1.xml" Id="Rd34041704fae4d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545ae071d14f1a" /><Relationship Type="http://schemas.openxmlformats.org/officeDocument/2006/relationships/notesMaster" Target="/ppt/notesMasters/notesMaster1.xml" Id="R2f5642ffadde41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60a4cd5a354961" /><Relationship Type="http://schemas.openxmlformats.org/officeDocument/2006/relationships/notesMaster" Target="/ppt/notesMasters/notesMaster1.xml" Id="Raa0ca426446140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1669725ad94ea3" /><Relationship Type="http://schemas.openxmlformats.org/officeDocument/2006/relationships/notesMaster" Target="/ppt/notesMasters/notesMaster1.xml" Id="R54730591d82a439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b5b7241e30844cd" /><Relationship Type="http://schemas.openxmlformats.org/officeDocument/2006/relationships/notesMaster" Target="/ppt/notesMasters/notesMaster1.xml" Id="R3fbc5b839f9a44a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ebada0acda403c" /><Relationship Type="http://schemas.openxmlformats.org/officeDocument/2006/relationships/notesMaster" Target="/ppt/notesMasters/notesMaster1.xml" Id="Re3c1c96f9001457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c946a053c86475b" /><Relationship Type="http://schemas.openxmlformats.org/officeDocument/2006/relationships/notesMaster" Target="/ppt/notesMasters/notesMaster1.xml" Id="R1a4bb15a8941485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366612006ad444e" /><Relationship Type="http://schemas.openxmlformats.org/officeDocument/2006/relationships/notesMaster" Target="/ppt/notesMasters/notesMaster1.xml" Id="R6c2f35c31038489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722647291d84dd4" /><Relationship Type="http://schemas.openxmlformats.org/officeDocument/2006/relationships/notesMaster" Target="/ppt/notesMasters/notesMaster1.xml" Id="R8d2ca92778744d4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d0a17d16b2d46ce" /><Relationship Type="http://schemas.openxmlformats.org/officeDocument/2006/relationships/notesMaster" Target="/ppt/notesMasters/notesMaster1.xml" Id="Rde1d5ad83f864cf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b1008cca7054c77" /><Relationship Type="http://schemas.openxmlformats.org/officeDocument/2006/relationships/notesMaster" Target="/ppt/notesMasters/notesMaster1.xml" Id="R6b0e45df2b94460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f767be99f884a1d" /><Relationship Type="http://schemas.openxmlformats.org/officeDocument/2006/relationships/notesMaster" Target="/ppt/notesMasters/notesMaster1.xml" Id="R43c5d9892770413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3e988cf506a4314" /><Relationship Type="http://schemas.openxmlformats.org/officeDocument/2006/relationships/notesMaster" Target="/ppt/notesMasters/notesMaster1.xml" Id="R94bfa192cd80422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83b77a243d44f74" /><Relationship Type="http://schemas.openxmlformats.org/officeDocument/2006/relationships/notesMaster" Target="/ppt/notesMasters/notesMaster1.xml" Id="Rf4a48d34e5844ff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1f54e08366c4c90" /><Relationship Type="http://schemas.openxmlformats.org/officeDocument/2006/relationships/notesMaster" Target="/ppt/notesMasters/notesMaster1.xml" Id="Rc4734198f500453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ff6acbed61c4d09" /><Relationship Type="http://schemas.openxmlformats.org/officeDocument/2006/relationships/notesMaster" Target="/ppt/notesMasters/notesMaster1.xml" Id="Rbc1b05e0a717428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13c92f38b64ee8" /><Relationship Type="http://schemas.openxmlformats.org/officeDocument/2006/relationships/notesMaster" Target="/ppt/notesMasters/notesMaster1.xml" Id="R1b07c06ff5cb47b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6a239d097ab4a4b" /><Relationship Type="http://schemas.openxmlformats.org/officeDocument/2006/relationships/notesMaster" Target="/ppt/notesMasters/notesMaster1.xml" Id="R9056b5d5f84c45d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a7ea9da9e4c4844" /><Relationship Type="http://schemas.openxmlformats.org/officeDocument/2006/relationships/notesMaster" Target="/ppt/notesMasters/notesMaster1.xml" Id="Rb51855ab3e294f6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c8f30dd7e594cc4" /><Relationship Type="http://schemas.openxmlformats.org/officeDocument/2006/relationships/notesMaster" Target="/ppt/notesMasters/notesMaster1.xml" Id="Re4680de32c6449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讲者：A。本页含媒体/互动预算约0.5分钟。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大家好，今天我们从电影音乐的角度看《末代皇帝》。这部电影有很大的历史跨度，也有非常鲜明的宫殿、色彩和人物形象。我们的主问题是：音乐怎样把这些不同年代、不同处境联系起来？先用几页认识影片，再听片头、Open the Door、追逐与雨中离开的段落，最后回到主题音乐与结尾。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原片静帧：09328_重访紫禁城.jpg；本地资源D:/__Netdisk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先区分影片讲什么，以及它怎样讲。它以溥仪的人生为中心，是历史传记题材，也有史诗电影的规模。国际演员和跨国制作，使中国历史进入了一种具有明确创作视角的电影表达。我们讨论的是这部电影对人物和时代的呈现。音乐也来自不同创作经验，因此不能把整部配乐都放到坂本龙一一个人名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Criterion, The Last Emperor film and edition information. https://www.criterion.com/films/254</a:t>
            </a:r>
          </a:p>
          <a:p xmlns:a="http://schemas.openxmlformats.org/drawingml/2006/main">
            <a:r>
              <a:t>奥斯卡官方：1988年第60届，9项提名全部获奖，含原创配乐。https://www.oscars.org/oscars/ceremonies/1988/memorable-moments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这里把可以核查的资料先列清楚。北美公映日期和票房采用Box Office Mojo的对应口径；这不是影片所有国家的首次上映日期，也不把北美数值写成全球票房。奖项按奥斯卡官方记录：九项提名全部获奖，音乐、声音、摄影、剪辑等都在其中。这说明影片获得了重要行业认可。至于这些艺术处理为什么有效，还需要后面的片段分析来回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票房网站国际历史数据不完整，不引用该页worldwide为完整全球票房。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Box Office Mojo，2026-10-19查阅；北美首映1987-11-20、北美累计43,984,230美元。https://www.boxofficemojo.com/title/tt0093389/</a:t>
            </a:r>
          </a:p>
          <a:p xmlns:a="http://schemas.openxmlformats.org/drawingml/2006/main">
            <a:r>
              <a:t>奥斯卡官方：1988年第60届，9项提名全部获奖，含原创配乐。https://www.oscars.org/oscars/ceremonies/1988/memorable-moments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客观介绍还包括把评论的分歧交代出来。Ebert把人物受到的限制作为理解影片的一条线索；Thomson看见宏大场面里很细小的日常生活；Kempley则对影片的戏剧力量提出批评。这些是可追溯到作者的评价，不是统一的结论。我们稍后提出自己的判断时，也要说明它是由哪些片段支持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Roger Ebert (1987-12-09), The Last Emperor. https://www.rogerebert.com/reviews/the-last-emperor-1987</a:t>
            </a:r>
          </a:p>
          <a:p xmlns:a="http://schemas.openxmlformats.org/drawingml/2006/main">
            <a:r>
              <a:t>David Thomson (2009-01-06), The Last Emperor, or The Manchurian Candidate. https://www.criterion.com/current/posts/556-the-last-emperor-or-the-manchurian-candidate</a:t>
            </a:r>
          </a:p>
          <a:p xmlns:a="http://schemas.openxmlformats.org/drawingml/2006/main">
            <a:r>
              <a:t>Rita Kempley (1987-12-17), The Last Emperor China Dull. https://www.washingtonpost.com/archive/lifestyle/1987/12/18/the-last-emperor-china-dull/a568b18d-564b-4ee2-a92d-9071cdda2546/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先用这一页交代故事。影片从1950年被囚的溥仪开始，通过回忆讲述他的前半生。小时候，他在宫里被当作皇帝对待，对外面的世界却知道得很少。离开紫禁城以后，他仍想恢复帝位，后来依靠日本势力，成为伪满洲国的傀儡皇帝。战后被囚、接受改造，最后成为普通公民。片名中的“末代”，既标明了帝制结束的位置，也把一个问题留给观众：当皇帝这个身份消失以后，这个人怎样生活？我们选的几个片段，就放在这条变化里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原片静帧：04844_紫禁城离开.jpg；本地资源D:/__Netdisk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Criterion, The Last Emperor film and edition information. https://www.criterion.com/films/254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影片采用回忆框架，把被囚的现在与过去交替组织。这里比“多线性”更准确的说法，是有一个当下框架，里面逐步展开人物的经历。我们借用课堂展示里的方法，先找出画面时间怎样改变，再听音乐是否跨过这个变化。音乐因此不仅能表现情绪，也可能成为组织叙事的线索。后面的Open the Door就从这一步进入。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原片静帧：00378_割腕.jpg；本地资源D:/__Netdisk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这里把镜头和色彩压缩在一页。远景让人看见人物与建筑的比例，宫门决定人物能否继续移动。摄影师的创作自述还把颜色联系到人生阶段，绿色汽车和自行车就是其中的例子。理解这些背景，是为了听音乐进入画面后有什么变化：动作有没有更强的推进感，空间有没有显得更开阔或更封闭，转场有没有获得连续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原片静帧：01640_童年奔跑全景.jpg；本地资源D:/__Netdisk Download/The Last Emperor，HDR转SDR展示截图。</a:t>
            </a:r>
          </a:p>
          <a:p xmlns:a="http://schemas.openxmlformats.org/drawingml/2006/main">
            <a:r>
              <a:t>原片静帧：02484_庄士敦到来.jpg；本地资源D:/__Netdisk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Vittorio Storaro (2017-12-07), Lisbon masterclass, PDF pp.10-11. https://www.academiadecinema.pt/wp-content/uploads/2018/04/MASTERCLASS-VITTORIO-STORARO-English_text.pdf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我们准备时有一个很直接的疑问：东方管弦与电子合成器“碰撞”，具体是什么意思？可以先从创作班底看起。坂本龙一有YMO的电子音乐经历，Byrne来自Talking Heads，苏聪则有中国音乐创作背景。他们共同署名，却不意味着每一段都由三人一起写。下面每个例子都标明所听曲目，避免把片头、主题和场景音乐混成一个笼统的“末代皇帝主题曲”。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奥斯卡官方：1988年第60届，9项提名全部获奖，含原创配乐。https://www.oscars.org/oscars/ceremonies/1988/memorable-moments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本地原声目录及Apple Music专辑。https://music.apple.com/us/album/the-last-emperor-original-soundtrack/714659119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访谈里，坂本龙一说自己先参与表演，之后才接到配乐邀请。他谈到时间很紧，也谈到寻找中国音乐家录音。这使我们能把“传统与现代”说得具体一点：它涉及演奏材料，也涉及制作方式。最后听到的成品又经过剪辑、录音和混音，所以曲目、演奏乐器与影片中的声部，需要分别核对。接下来先听Byrne的片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访谈是创作者回忆；具体天数不展开成夸张创作神话。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讲者：A。本页含媒体/互动预算约1.5分钟。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先听35秒。请留意哪些声音反复，哪些声音形成持续的背景，旋律和节奏谁更吸引注意。【播放后】同学可以用“清脆、持续、疏密、快慢”这样的词来描述，不必一开始就猜乐器。这段片头的作者是David Byrne。我们看到红色、宫殿和题字以后，很容易把声音与中国宫廷联系起来。这个联想来自音乐，也来自画面和已有经验。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35秒，1—2人各用一个声音特征回答。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原片静帧：00035_片头题字.jpg；本地资源D:/__Netdisk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Apple Music, Main Title Theme, David Byrne. https://music.apple.com/us/song/714659406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我们把最初的“故宫音色”问题拆成四层。第一层是音色本身，第二层是音乐怎样组织，第三层是演奏和制作的组合，第四层是它所在的电影语境。配乐评论会使用二胡、古筝、管弦乐或电子音色等词分析主题，我们把它作为回听的线索。具体到现场这一段，仍要听声部怎么出现。这样既能讨论音乐的文化特征，也不把电影配乐直接当作清代宫廷音乐的复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R06的乐器描述是有归属的分析；本稿未完成每条声部的听辨。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讲者：A。本页含媒体/互动预算约1.3分钟。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请先听Open the Door开头30秒。我们这次先做一件很具体的事：记住开头乐句的轮廓，感受它怎样积累和停顿。参考展示把这段旋律看成串联人生转折的主题。对本次赏析来说，这是很好的比较方向：同一材料出现时，画面中的人物和处境是否已经不同？先看影片中一次从成年走向童年的转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仅为专辑开头摘录，不声称与下一段电影混音逐秒一致；不抄照片中未核实的短谱。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原片静帧：00399_回忆宫门.jpg；本地资源D:/__Netdisk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本地原声目录及Apple Music专辑。https://music.apple.com/us/album/the-last-emperor-original-soundtrack/714659119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讲者：A。本页含媒体/互动预算约1.8分钟。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先看45秒。这里我们已经知道当下是囚禁生活，画面随后进入童年。【播放后】请先说出你注意到的剪辑点，再回想声音是立即改变，还是让上一段感受延续到新画面。讲义的“过渡音乐、连贯音乐”解释的正是音乐连接镜头和场面的作用。观众听到的音乐可以位于影片叙述层，所以它跨过几十年，并不要求两处现实空间里真有同一个声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45秒。现场定位实际音乐和音响的变化；未确认前不把所有延续都称为同曲。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原片静帧：00390_首次转场.jpg；本地资源D:/__Netdisk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主题音乐的作用之一，是让不同片段彼此记得。参考照片把Open the Door的数次出现与人生变化联系起来，也把Where Is Armo和它放在一起比较。我们借鉴这种方法，但判断要分两步：先听清材料是否相同或相近，再分析它与情节的关系。曲名相似、人物喊了同一句话，只能帮助定位，不能代替音乐比较。下面把焦点从回忆转场移到人物行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A转B。照片中“访日返回东北”等具体重现位置保存在研究资料，尚未逐段核实，不作为本页已证实目录。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讲者：B。本页含媒体/互动预算约1.1分钟。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先听30秒。这里特别留意底层是否形成连续的运动，以及上方旋律怎样进入。参考展示用“大提琴的行进感”描述这段音乐，并把它和奔走画面联系起来。这给我们一个可检验的分析：推进感来自速度、重复节奏，还是音型和声部叠加？下面看追阿嬷的片段，把单听音乐的感受与声画结合后的感受放在一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30秒。具体大提琴声部来自参考展示，未独立确认，口头保持归属。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原片静帧：02175_追阿嬷.jpg；本地资源D:/__Netdisk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本地原声目录及Apple Music专辑。https://music.apple.com/us/album/the-last-emperor-original-soundtrack/714659119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讲者：B。本页含媒体/互动预算约2.4分钟。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阿嬷被送走，年幼的溥仪试图追上她。先看90秒。【播放后】这段不要只用“悲伤”概括，可以逐层说：镜头怎样从人物动作走到远景，呼喊在何处吸引注意，音乐是否让奔跑显得更连续。人物在远景里变小以后，他的动作与声音之间还保持着怎样的联系？这就能把画面里的距离，和音乐里的时间感一起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90秒；现场标出音乐、人声与环境声一次明显变化，避免把书签当cue起点。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原片静帧：02185_追阿嬷奔跑.jpg；本地资源D:/__Netdisk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讲者：B。本页含媒体/互动预算约2.1分钟。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婉容被送走，成年溥仪再次追出，仍要别人开门。先看70秒。【播放后】两段可以从相似动作进入，但音乐分析不能到动作相似就结束。请比较刚才的推进方式：旋律轮廓是否相近，节奏怎样组织，停顿与呼喊又有什么不同？参考展示把两处放到Where Is Armo的联系下讨论，我们把它作为回听问题。人物处境的呼应已经能从画面看到，音乐联系则需要用刚听到的具体材料说明。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70秒。未独立核实同曲、调式或沿小调音阶级进，不能照抄照片中结论。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原片静帧：08170_追婉容.jpg；本地资源D:/__Netdisk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讲者：B。本页含媒体/互动预算约1.2分钟。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讲义把音画同步与音画对位作为主要关系。对这两个片段，可以先听节奏和情绪有没有互相加强；如果音乐有自己的展开，再讨论它与画面的相对独立。我们不必把所有概念都用一遍。更有用的是指出某一处具体关系：哪一段推动动作，哪一处停顿把注意力交还给台词。这也能解释，同样是奔跑，为何不同场景给人的感受不完全一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讲者：B。本页含媒体/互动预算约1.1分钟。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先听30秒Rain。作曲者在访谈中专门谈到这首作品被导演团队听到时的反应，说明它在创作交流中很有力量。我们先不用他人的反应决定自己的感受，而是听音乐自身：旋律怎样展开，力度有没有起伏，声音是聚拢还是逐渐铺开。再把它放回文绣离开的场景，比较有了雨声、台词和动作以后，听觉重心怎样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30秒。专辑摘录不等同于影片完全相同版本。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原片静帧：05860_雨.jpg；本地资源D:/__Netdisk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本地原声目录及Apple Music专辑。https://music.apple.com/us/album/the-last-emperor-original-soundtrack/714659119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文绣提出离婚，走进雨中，拒绝伞。先看65秒。【播放后】与溥仪追逐受阻相比，她走了出去。先把这个动作结果说清楚，再解释音乐的作用。如果觉得这里有释放感，就指出它与刚才单听原声时有什么联系，也说出雨声、台词或表演带来了什么。雨声属于环境音，Rain是配乐曲目；两者可以共同组织感受，却需要分别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65秒。释放感是论证方向，不预设所有听众感受。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原片静帧：05840_雨中出门.jpg；本地资源D:/__Netdisk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下面用两段原声录音比较主题与变奏。先听A，再听B。大家先找乐句、节奏或旋律走向的联系，再描述差别：哪一段更稀疏，哪一段层次更多，声音的质感和力度有什么变化？配乐评论特别提到Variation 2中的电子音色，我们把这个判断放到实际聆听里检验。这一比较说明，材料保持联系时，编配仍能改变表达。它也回应了我们对传统乐器、管弦乐与电子制作的疑问。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65秒。比较限两段专辑，不把它们的次序当作影片顺序。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本地原声目录及Apple Music专辑。https://music.apple.com/us/album/the-last-emperor-original-soundtrack/714659119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这首曲目的名字是First Coronation，但参考展示把它放在了晚年重返宫殿的片段上，提醒我们关注音乐与记忆的关系。先听35秒，记住这次听到的旋律和声音层次，再看结尾。我们需要比较的是：影片怎样让过去的身份重新进入当下，音乐是否带来熟悉感，以及这种熟悉感有没有改变。曲名和场景之间的关系，需要由实际配乐来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B转A。35秒。照片对结尾配乐的命名仅是待核对线索，不能由标题直接认定电影cue。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原片静帧：09338_重访背影.jpg；本地资源D:/__Netdisk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本地原声目录及Apple Music专辑。https://music.apple.com/us/album/the-last-emperor-original-soundtrack/714659119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讲者：A。本页含媒体/互动预算约2.4分钟。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晚年的溥仪回到开放的故宫，向孩子说明自己曾经是皇帝。看这92秒时，除了对话和小物件，也留意音乐、人声和音响如何改变注意力。【播放后】这个结尾把个人记忆放回宏大的历史空间。身份从前由礼仪不断确认，现在需要通过讲述和物件来证明。如果听到与前面相近的音乐材料，就可以说出它的联系；如果感受不同，也可以从声音层次和画面关系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92秒。不把蝈蝈作为历史写实证据；不预设“最终自由”的单一结论。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原片静帧：09385_重返龙椅.jpg；本地资源D:/__Netdisk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  <a:p xmlns:a="http://schemas.openxmlformats.org/drawingml/2006/main">
            <a:r>
              <a:t>Roger Ebert (1987-12-09), The Last Emperor. https://www.rogerebert.com/reviews/the-last-emperor-1987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回顾几个案例，可以把问题分成三类：声源在哪里，音乐怎样连接片段，声音何时停顿。有源与无源解释音乐和故事空间的关系；过渡与主题重现帮助组织叙事；静默则通过声音的停顿改变节奏。音乐暂时退下时，台词和环境声可能更突出。用这些概念，是为了描述具体听到的关系。今天没有证据支持的类别，我们保留，不强行套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我们的评价是：音乐让观众在巨大历史跨度中，仍能跟随人物具体的行动和记忆。转场的连续、追逐的推进、离开的情绪变化，是我们选择这些例子的原因。但这种表达也值得反问：当音乐让我们更靠近人物时，会不会让我们忽略他的选择与责任？因此我们赞赏音乐组织叙事的能力，也保留对影片视角的讨论。这是根据选段提出的评价，和前面奖项、票房的资料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Roger Ebert (1987-12-09), The Last Emperor. https://www.rogerebert.com/reviews/the-last-emperor-1987</a:t>
            </a:r>
          </a:p>
          <a:p xmlns:a="http://schemas.openxmlformats.org/drawingml/2006/main">
            <a:r>
              <a:t>David Thomson (2009-01-06), The Last Emperor, or The Manchurian Candidate. https://www.criterion.com/current/posts/556-the-last-emperor-or-the-manchurian-candidate</a:t>
            </a:r>
          </a:p>
          <a:p xmlns:a="http://schemas.openxmlformats.org/drawingml/2006/main">
            <a:r>
              <a:t>Rita Kempley (1987-12-17), The Last Emperor China Dull. https://www.washingtonpost.com/archive/lifestyle/1987/12/18/the-last-emperor-china-dull/a568b18d-564b-4ee2-a92d-9071cdda2546/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讲者：AB。本页含媒体/互动预算约2.5分钟。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请大家先回想十几秒，再选一个片段回答。尽量用一处具体声音变化说明感受，例如旋律进入、节奏持续、台词突出，或者某一层声音停下。我们想听不同判断，也欢迎指出还有哪些比较需要回到影片核对。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邀请2—3位；没人发言可回放05末尾20秒，不把去配乐问题冒充已做对照实验。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讲者：AB。本页含媒体/互动预算约0.2分钟。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完整链接及各项资料的采用方式见配套参考资料。课堂照片帮助我们学习案例组织和主题重现的比较方法；具体音乐结论仍保留来源和核验范围。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Criterion, The Last Emperor film and edition information. https://www.criterion.com/films/254</a:t>
            </a:r>
          </a:p>
          <a:p xmlns:a="http://schemas.openxmlformats.org/drawingml/2006/main">
            <a:r>
              <a:t>Box Office Mojo，2026-10-19查阅；北美首映1987-11-20、北美累计43,984,230美元。https://www.boxofficemojo.com/title/tt0093389/</a:t>
            </a:r>
          </a:p>
          <a:p xmlns:a="http://schemas.openxmlformats.org/drawingml/2006/main">
            <a:r>
              <a:t>奥斯卡官方：1988年第60届，9项提名全部获奖，含原创配乐。https://www.oscars.org/oscars/ceremonies/1988/memorable-moments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Vittorio Storaro (2017-12-07), Lisbon masterclass, PDF pp.10-11. https://www.academiadecinema.pt/wp-content/uploads/2018/04/MASTERCLASS-VITTORIO-STORARO-English_text.pdf</a:t>
            </a:r>
          </a:p>
          <a:p xmlns:a="http://schemas.openxmlformats.org/drawingml/2006/main">
            <a:r>
              <a:t>Roger Ebert (1987-12-09), The Last Emperor. https://www.rogerebert.com/reviews/the-last-emperor-1987</a:t>
            </a:r>
          </a:p>
          <a:p xmlns:a="http://schemas.openxmlformats.org/drawingml/2006/main">
            <a:r>
              <a:t>David Thomson (2009-01-06), The Last Emperor, or The Manchurian Candidate. https://www.criterion.com/current/posts/556-the-last-emperor-or-the-manchurian-candidate</a:t>
            </a:r>
          </a:p>
          <a:p xmlns:a="http://schemas.openxmlformats.org/drawingml/2006/main">
            <a:r>
              <a:t>Rita Kempley (1987-12-17), The Last Emperor China Dull. https://www.washingtonpost.com/archive/lifestyle/1987/12/18/the-last-emperor-china-dull/a568b18d-564b-4ee2-a92d-9071cdda2546/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  <a:p xmlns:a="http://schemas.openxmlformats.org/drawingml/2006/main">
            <a:r>
              <a:t>Diana (2019-08-23), 《末代皇帝》有哪些亮点和记忆点？ https://movie.douban.com/review/10433522/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  <a:p xmlns:a="http://schemas.openxmlformats.org/drawingml/2006/main">
            <a:r>
              <a:t>2026-10-19课堂展示照片：归档/05_老师展示照片_20261019/照片提取与批注整理.md。音乐判断属参考展示分析，非独立听辨证据。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讲者：AB。本页含媒体/互动预算约0分钟。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【讲述】</a:t>
            </a:r>
          </a:p>
          <a:p xmlns:a="http://schemas.openxmlformats.org/drawingml/2006/main">
            <a:r>
              <a:t>这一页备用。可以根据提问回放相应视频或原声，再讨论主题、音色、声源和剪辑的关系。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【排练备忘，不朗读】</a:t>
            </a:r>
          </a:p>
          <a:p xmlns:a="http://schemas.openxmlformats.org/drawingml/2006/main">
            <a:r>
              <a:t>具体乐器、调式、精确cue起止尚未完成听辨，不以猜测补全。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b7cad32b1e4f8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0371dec86647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209710c242470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bad9e80ee540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0094c9badc4ff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66ff57e4544b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2BE452-B2EB-4895-AD56-534B659170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2D56701-68F7-4956-8713-EF0C31E82DA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6802691-6C2A-4EA5-8DAA-DA2277A2C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5145CB-955B-4282-864C-546D3DFF87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C09B33-8256-4CC1-8AED-4F39461E0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CAB6BFF-C094-47C5-8B03-EB7BE2A50F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709339B-EE9A-4B49-B246-8C0C8CAAD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432733-04E0-4DE1-B6F1-EBA659B072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2D8A97-7838-4E71-B20A-4E62D42EF8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9D56C35-C524-4C7C-AC3E-095E9D7FC5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18812237604c15" /><Relationship Type="http://schemas.openxmlformats.org/officeDocument/2006/relationships/slideLayout" Target="/ppt/slideLayouts/slideLayout1.xml" Id="Rc07a71df266f48d4" /><Relationship Type="http://schemas.openxmlformats.org/officeDocument/2006/relationships/slideLayout" Target="/ppt/slideLayouts/slideLayout2.xml" Id="R5dadd9e083d6400d" /><Relationship Type="http://schemas.openxmlformats.org/officeDocument/2006/relationships/slideLayout" Target="/ppt/slideLayouts/slideLayout3.xml" Id="R83df174eddf1491b" /><Relationship Type="http://schemas.openxmlformats.org/officeDocument/2006/relationships/slideLayout" Target="/ppt/slideLayouts/slideLayout4.xml" Id="Rf5f7af2fd1194f65" /><Relationship Type="http://schemas.openxmlformats.org/officeDocument/2006/relationships/slideLayout" Target="/ppt/slideLayouts/slideLayout5.xml" Id="Ra915a89324554e40" /><Relationship Type="http://schemas.openxmlformats.org/officeDocument/2006/relationships/slideLayout" Target="/ppt/slideLayouts/slideLayout6.xml" Id="Rba508a6b438c4f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7a71df266f48d4"/>
    <p:sldLayoutId xmlns:r="http://schemas.openxmlformats.org/officeDocument/2006/relationships" id="2147483650" r:id="R5dadd9e083d6400d"/>
    <p:sldLayoutId xmlns:r="http://schemas.openxmlformats.org/officeDocument/2006/relationships" id="2147483651" r:id="R83df174eddf1491b"/>
    <p:sldLayoutId xmlns:r="http://schemas.openxmlformats.org/officeDocument/2006/relationships" id="2147483652" r:id="Rf5f7af2fd1194f65"/>
    <p:sldLayoutId xmlns:r="http://schemas.openxmlformats.org/officeDocument/2006/relationships" id="2147483653" r:id="Ra915a89324554e40"/>
    <p:sldLayoutId xmlns:r="http://schemas.openxmlformats.org/officeDocument/2006/relationships" id="2147483654" r:id="Rba508a6b438c4f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7c6d532e7940e8" /><Relationship Type="http://schemas.openxmlformats.org/officeDocument/2006/relationships/image" Target="/ppt/media/image.jpeg" Id="R407b43b667e74122" /><Relationship Type="http://schemas.openxmlformats.org/officeDocument/2006/relationships/notesSlide" Target="/ppt/notesSlides/notesSlide1.xml" Id="R53f26f4ffda948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d20dc1c02649be" /><Relationship Type="http://schemas.openxmlformats.org/officeDocument/2006/relationships/notesSlide" Target="/ppt/notesSlides/notesSlide2.xml" Id="R45e2cc2b226c45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2fcc81516d4f86" /><Relationship Type="http://schemas.openxmlformats.org/officeDocument/2006/relationships/notesSlide" Target="/ppt/notesSlides/notesSlide3.xml" Id="R567b58a57a7749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4beed655364d44" /><Relationship Type="http://schemas.openxmlformats.org/officeDocument/2006/relationships/notesSlide" Target="/ppt/notesSlides/notesSlide4.xml" Id="Rc93222e3fcda42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f58cc1bcb54dcb" /><Relationship Type="http://schemas.openxmlformats.org/officeDocument/2006/relationships/image" Target="/ppt/media/image2.jpeg" Id="Rc7657d1c0e2b40d4" /><Relationship Type="http://schemas.openxmlformats.org/officeDocument/2006/relationships/notesSlide" Target="/ppt/notesSlides/notesSlide5.xml" Id="R39e7942a5b3743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eb8c388df240cb" /><Relationship Type="http://schemas.openxmlformats.org/officeDocument/2006/relationships/image" Target="/ppt/media/image3.jpeg" Id="Raad0ec396e004493" /><Relationship Type="http://schemas.openxmlformats.org/officeDocument/2006/relationships/notesSlide" Target="/ppt/notesSlides/notesSlide6.xml" Id="R754c2c3a004d4c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26970a120e46da" /><Relationship Type="http://schemas.openxmlformats.org/officeDocument/2006/relationships/image" Target="/ppt/media/image4.jpeg" Id="Rf77db38634f14ea8" /><Relationship Type="http://schemas.openxmlformats.org/officeDocument/2006/relationships/image" Target="/ppt/media/image5.jpeg" Id="R7477255d65d04be5" /><Relationship Type="http://schemas.openxmlformats.org/officeDocument/2006/relationships/notesSlide" Target="/ppt/notesSlides/notesSlide7.xml" Id="R08f1b24c52d24e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e0b9098c6d42e7" /><Relationship Type="http://schemas.openxmlformats.org/officeDocument/2006/relationships/notesSlide" Target="/ppt/notesSlides/notesSlide8.xml" Id="R9183a8cbf86f4c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06ef239c4a4ebf" /><Relationship Type="http://schemas.openxmlformats.org/officeDocument/2006/relationships/notesSlide" Target="/ppt/notesSlides/notesSlide9.xml" Id="Rf49651890f5a4611" /></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186fc94bf774ccb" /><ns0:Relationship Type="http://schemas.openxmlformats.org/officeDocument/2006/relationships/image" Target="/ppt/media/image6.jpeg" Id="R1e047c85635b4e7f" /><ns0:Relationship Type="http://schemas.openxmlformats.org/officeDocument/2006/relationships/notesSlide" Target="/ppt/notesSlides/notesSlide10.xml" Id="R5a9c441b9ec747ee" /><ns0:Relationship Id="rIdMediaFile1" Type="http://schemas.openxmlformats.org/officeDocument/2006/relationships/audio" Target="../media/embedded1.m4a" /><ns0:Relationship Id="rIdOfficeMedia1" Type="http://schemas.microsoft.com/office/2007/relationships/media" Target="../media/embedded1.m4a" /></ns0: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bafa321a244f2d" /><Relationship Type="http://schemas.openxmlformats.org/officeDocument/2006/relationships/notesSlide" Target="/ppt/notesSlides/notesSlide11.xml" Id="R7710804e8c6d4036" /></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25f92800ec54020" /><ns0:Relationship Type="http://schemas.openxmlformats.org/officeDocument/2006/relationships/image" Target="/ppt/media/image7.jpeg" Id="R0a463ac4193a4842" /><ns0:Relationship Type="http://schemas.openxmlformats.org/officeDocument/2006/relationships/notesSlide" Target="/ppt/notesSlides/notesSlide12.xml" Id="Rf8f24bf716f94875" /><ns0:Relationship Id="rIdMediaFile2" Type="http://schemas.openxmlformats.org/officeDocument/2006/relationships/audio" Target="../media/embedded2.m4a" /><ns0:Relationship Id="rIdOfficeMedia2" Type="http://schemas.microsoft.com/office/2007/relationships/media" Target="../media/embedded2.m4a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a87e50865e14765" /><ns0:Relationship Type="http://schemas.openxmlformats.org/officeDocument/2006/relationships/image" Target="/ppt/media/image8.jpeg" Id="Rd082b197db3a45e0" /><ns0:Relationship Type="http://schemas.openxmlformats.org/officeDocument/2006/relationships/notesSlide" Target="/ppt/notesSlides/notesSlide13.xml" Id="R7969d2d8091c403c" /><ns0:Relationship Id="rIdMediaFile3" Type="http://schemas.openxmlformats.org/officeDocument/2006/relationships/video" Target="../media/embedded3.mp4" /><ns0:Relationship Id="rIdOfficeMedia3" Type="http://schemas.microsoft.com/office/2007/relationships/media" Target="../media/embedded3.mp4" /></ns0: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ffb8df992e4a51" /><Relationship Type="http://schemas.openxmlformats.org/officeDocument/2006/relationships/notesSlide" Target="/ppt/notesSlides/notesSlide14.xml" Id="Rd046285aa88d471f" /></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0a560fac78a4667" /><ns0:Relationship Type="http://schemas.openxmlformats.org/officeDocument/2006/relationships/image" Target="/ppt/media/image9.jpeg" Id="Rbb66f7ba71ff427b" /><ns0:Relationship Type="http://schemas.openxmlformats.org/officeDocument/2006/relationships/notesSlide" Target="/ppt/notesSlides/notesSlide15.xml" Id="Rafbbfd2f5873406d" /><ns0:Relationship Id="rIdMediaFile4" Type="http://schemas.openxmlformats.org/officeDocument/2006/relationships/audio" Target="../media/embedded4.m4a" /><ns0:Relationship Id="rIdOfficeMedia4" Type="http://schemas.microsoft.com/office/2007/relationships/media" Target="../media/embedded4.m4a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5bba65c29194460" /><ns0:Relationship Type="http://schemas.openxmlformats.org/officeDocument/2006/relationships/image" Target="/ppt/media/image10.jpeg" Id="Rb9a5004a65024e25" /><ns0:Relationship Type="http://schemas.openxmlformats.org/officeDocument/2006/relationships/notesSlide" Target="/ppt/notesSlides/notesSlide16.xml" Id="R2c2ea8ed010643f1" /><ns0:Relationship Id="rIdMediaFile5" Type="http://schemas.openxmlformats.org/officeDocument/2006/relationships/video" Target="../media/embedded5.mp4" /><ns0:Relationship Id="rIdOfficeMedia5" Type="http://schemas.microsoft.com/office/2007/relationships/media" Target="../media/embedded5.mp4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61a947a4bfb4ab2" /><ns0:Relationship Type="http://schemas.openxmlformats.org/officeDocument/2006/relationships/image" Target="/ppt/media/image11.jpeg" Id="R16cf93e0553c46ec" /><ns0:Relationship Type="http://schemas.openxmlformats.org/officeDocument/2006/relationships/notesSlide" Target="/ppt/notesSlides/notesSlide17.xml" Id="Rfbed8878116a4012" /><ns0:Relationship Id="rIdMediaFile6" Type="http://schemas.openxmlformats.org/officeDocument/2006/relationships/video" Target="../media/embedded6.mp4" /><ns0:Relationship Id="rIdOfficeMedia6" Type="http://schemas.microsoft.com/office/2007/relationships/media" Target="../media/embedded6.mp4" /></ns0: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8ab87ca77540cd" /><Relationship Type="http://schemas.openxmlformats.org/officeDocument/2006/relationships/notesSlide" Target="/ppt/notesSlides/notesSlide18.xml" Id="R25550828afab4a8d" /></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18f5984fd524b53" /><ns0:Relationship Type="http://schemas.openxmlformats.org/officeDocument/2006/relationships/image" Target="/ppt/media/image12.jpeg" Id="R55596a356e474421" /><ns0:Relationship Type="http://schemas.openxmlformats.org/officeDocument/2006/relationships/notesSlide" Target="/ppt/notesSlides/notesSlide19.xml" Id="Rc5861558f92c492d" /><ns0:Relationship Id="rIdMediaFile7" Type="http://schemas.openxmlformats.org/officeDocument/2006/relationships/audio" Target="../media/embedded7.m4a" /><ns0:Relationship Id="rIdOfficeMedia7" Type="http://schemas.microsoft.com/office/2007/relationships/media" Target="../media/embedded7.m4a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6d1dc786f4d497f" /><ns0:Relationship Type="http://schemas.openxmlformats.org/officeDocument/2006/relationships/image" Target="/ppt/media/image13.jpeg" Id="Rafd4aed2bf454c44" /><ns0:Relationship Type="http://schemas.openxmlformats.org/officeDocument/2006/relationships/notesSlide" Target="/ppt/notesSlides/notesSlide20.xml" Id="Rc67ded82db7d456e" /><ns0:Relationship Id="rIdMediaFile8" Type="http://schemas.openxmlformats.org/officeDocument/2006/relationships/video" Target="../media/embedded8.mp4" /><ns0:Relationship Id="rIdOfficeMedia8" Type="http://schemas.microsoft.com/office/2007/relationships/media" Target="../media/embedded8.mp4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055473615904661" /><ns0:Relationship Type="http://schemas.openxmlformats.org/officeDocument/2006/relationships/image" Target="/ppt/media/image14.jpeg" Id="Re6bb3ddc56874f25" /><ns0:Relationship Type="http://schemas.openxmlformats.org/officeDocument/2006/relationships/image" Target="/ppt/media/image15.jpeg" Id="R72680a8f18874ba7" /><ns0:Relationship Type="http://schemas.openxmlformats.org/officeDocument/2006/relationships/notesSlide" Target="/ppt/notesSlides/notesSlide21.xml" Id="Rb4b5eadf7ebf4ae3" /><ns0:Relationship Id="rIdMediaFile9" Type="http://schemas.openxmlformats.org/officeDocument/2006/relationships/audio" Target="../media/embedded9.m4a" /><ns0:Relationship Id="rIdOfficeMedia9" Type="http://schemas.microsoft.com/office/2007/relationships/media" Target="../media/embedded9.m4a" /><ns0:Relationship Id="rIdMediaFile10" Type="http://schemas.openxmlformats.org/officeDocument/2006/relationships/audio" Target="../media/embedded10.m4a" /><ns0:Relationship Id="rIdOfficeMedia10" Type="http://schemas.microsoft.com/office/2007/relationships/media" Target="../media/embedded10.m4a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deb4118a3cc4cea" /><ns0:Relationship Type="http://schemas.openxmlformats.org/officeDocument/2006/relationships/image" Target="/ppt/media/image16.jpeg" Id="R63d70071be8547d9" /><ns0:Relationship Type="http://schemas.openxmlformats.org/officeDocument/2006/relationships/notesSlide" Target="/ppt/notesSlides/notesSlide22.xml" Id="R5f14e8d161494caa" /><ns0:Relationship Id="rIdMediaFile11" Type="http://schemas.openxmlformats.org/officeDocument/2006/relationships/audio" Target="../media/embedded11.m4a" /><ns0:Relationship Id="rIdOfficeMedia11" Type="http://schemas.microsoft.com/office/2007/relationships/media" Target="../media/embedded11.m4a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218e08996eb4258" /><ns0:Relationship Type="http://schemas.openxmlformats.org/officeDocument/2006/relationships/image" Target="/ppt/media/image17.jpeg" Id="R1b9f3dbdf4674f02" /><ns0:Relationship Type="http://schemas.openxmlformats.org/officeDocument/2006/relationships/notesSlide" Target="/ppt/notesSlides/notesSlide23.xml" Id="Ra4408dd64b564e53" /><ns0:Relationship Id="rIdMediaFile12" Type="http://schemas.openxmlformats.org/officeDocument/2006/relationships/video" Target="../media/embedded12.mp4" /><ns0:Relationship Id="rIdOfficeMedia12" Type="http://schemas.microsoft.com/office/2007/relationships/media" Target="../media/embedded12.mp4" /></ns0: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3ff6af4772444a" /><Relationship Type="http://schemas.openxmlformats.org/officeDocument/2006/relationships/notesSlide" Target="/ppt/notesSlides/notesSlide24.xml" Id="R361431a6461d43a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7047608a754b6a" /><Relationship Type="http://schemas.openxmlformats.org/officeDocument/2006/relationships/notesSlide" Target="/ppt/notesSlides/notesSlide25.xml" Id="R396cab1610c94ba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371b3d752e47d9" /><Relationship Type="http://schemas.openxmlformats.org/officeDocument/2006/relationships/notesSlide" Target="/ppt/notesSlides/notesSlide26.xml" Id="Rdabd0fbe2dc1436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6597ae46b94ea0" /><Relationship Type="http://schemas.openxmlformats.org/officeDocument/2006/relationships/notesSlide" Target="/ppt/notesSlides/notesSlide27.xml" Id="R75ca08ef97ea4d7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ce5ebec5a14c52" /><Relationship Type="http://schemas.openxmlformats.org/officeDocument/2006/relationships/notesSlide" Target="/ppt/notesSlides/notesSlide28.xml" Id="Re66da286772147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D0C89-C43F-4C35-9A66-15DC1B703B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b43b667e74122"/>
          <a:stretch xmlns:a="http://schemas.openxmlformats.org/drawingml/2006/main"/>
        </p:blipFill>
        <p:spPr>
          <a:xfrm xmlns:a="http://schemas.openxmlformats.org/drawingml/2006/main">
            <a:off x="549088" y="0"/>
            <a:ext cx="11093824" cy="47148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448497-2EBB-46B1-AF23-363CEB71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听见《末代皇帝》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01A24-D28E-4D3E-AE76-0E226487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53125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音乐主题、人物与时代</a:t>
            </a:r>
          </a:p>
        </p:txBody>
      </p:sp>
    </p:spTree>
    <p:extLst>
      <p:ext uri="{BB962C8B-B14F-4D97-AF65-F5344CB8AC3E}">
        <p14:creationId xmlns:p14="http://schemas.microsoft.com/office/powerpoint/2010/main" val="9252084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998520-69F1-482A-A169-0939204C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影片资料：一部跨国合作的历史传记片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1C402-1C20-4FB0-AC7B-70F3865D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1987年　导演：贝尔纳多·贝托鲁奇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DEA845-BDFC-4EC4-B0F4-45A477BA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主演：尊龙、陈冲、彼得·奥图尔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D5CCB-7384-44D6-941E-C59658C4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摄影：维托里奥·斯托拉罗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6646E-C749-4FBE-BC6C-5627FA1B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原创配乐：坂本龙一、David Byrne、苏聪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6D237-E431-42FE-8088-6362EF29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693589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2600A-0C91-4743-82A7-73D38B16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上映、票房与奖项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FFE99-C624-46A2-B657-5B88346B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北美公映：1987年11月20日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22123-237A-409B-800D-869CC749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北美累计票房：43,984,230美元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62F8F-866A-479E-A7DF-E4244D05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1988年第60届奥斯卡：9项提名，9项获奖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755B9-DD68-4BFD-8DF7-B417C63C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其中包括最佳影片、导演、摄影与原创配乐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4F48A9-6519-4D8A-ACC8-30504CED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613986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5F655-210F-463A-BF81-6DBFB10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评论如何评价它？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888EF-C554-4304-BA34-8C7F54F6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Ebert：个人行动与庞大秩序之间的反差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61F6E-19DF-4D72-B380-E5AB7344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Thomson：史诗场面中的日常细节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A978B-1989-4F2D-BE2E-FB60627D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Kempley：对华丽形式与戏剧张力提出质疑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3B27C-6991-4B65-A922-8644B680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行业荣誉、评论观点与个人感受分别讨论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0E1E9-012F-43AE-B62B-802E4A18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292557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752A1D-33F4-4236-AB12-0EA67A13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故事：皇帝身份怎样改变？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806705-82E2-4EC9-B04C-9B1E8C1CBF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57d1c0e2b40d4"/>
          <a:stretch xmlns:a="http://schemas.openxmlformats.org/drawingml/2006/main"/>
        </p:blipFill>
        <p:spPr>
          <a:xfrm xmlns:a="http://schemas.openxmlformats.org/drawingml/2006/main">
            <a:off x="571500" y="2113359"/>
            <a:ext cx="6191250" cy="263128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9441F-3FDD-4435-8D5C-47ECF517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763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幼年登基，在宫城内成长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F164A5-AA7B-442B-B754-CE641D86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526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离宫后谋求复辟，成为伪满洲国傀儡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37508-8F0F-485C-BEDE-607BCD75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289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战后被囚、改造，成为普通公民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FD8726-E67E-4934-850E-3F51F003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052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晚年重新走进已开放的故宫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EC7D9-05DF-41D2-BA6F-6916F0CB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641687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864BF3-D622-402C-84F3-DEF49D8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叙事：囚禁中的现在，通向过去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755CB-60ED-44AB-B654-CC6D1B67EB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0ec396e004493"/>
          <a:stretch xmlns:a="http://schemas.openxmlformats.org/drawingml/2006/main"/>
        </p:blipFill>
        <p:spPr>
          <a:xfrm xmlns:a="http://schemas.openxmlformats.org/drawingml/2006/main">
            <a:off x="571500" y="2113359"/>
            <a:ext cx="6191250" cy="263128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5A3D4-89B4-4BDC-94DC-326D38A6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763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1950年的囚禁生活，构成回忆的入口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83F24-E289-484C-87B7-9B486361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526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童年、宫廷与伪满经历逐步展开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E7A91-BD0C-4428-A789-1E142225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289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音乐可以跨过剪辑，组织时间的连续感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9DDB45-8849-451C-BD7D-DE127758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89424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06DA2B-C9B5-4AAB-A934-A7C613D5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画面提供处境，音乐赋予时间感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90736-BAE7-49B6-803E-525E12D1E7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db38634f14ea8"/>
          <a:stretch xmlns:a="http://schemas.openxmlformats.org/drawingml/2006/main"/>
        </p:blipFill>
        <p:spPr>
          <a:xfrm xmlns:a="http://schemas.openxmlformats.org/drawingml/2006/main">
            <a:off x="571500" y="1577578"/>
            <a:ext cx="5238750" cy="222646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994AF-5C91-4B7A-A030-65F8BB3B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7195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人物与宫城的比例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1D1D9-789B-4F88-B09F-EE6C16B75E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7255d65d04be5"/>
          <a:stretch xmlns:a="http://schemas.openxmlformats.org/drawingml/2006/main"/>
        </p:blipFill>
        <p:spPr>
          <a:xfrm xmlns:a="http://schemas.openxmlformats.org/drawingml/2006/main">
            <a:off x="6191250" y="1577578"/>
            <a:ext cx="5238750" cy="222646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E25D07-9E3E-4FDF-86ED-AAAE7257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7195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外部生活进入宫墙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C15E1-5956-461C-8A21-CB378C49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远景、宫门：人物与制度空间的关系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7D909-60E0-4FAC-A4E1-CA9110E6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红墙、绿色物件：人生阶段与外部世界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8240F-0314-4E2D-9D6D-5099567C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606346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1CB69-F728-4EC4-8E00-8A6B977E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三位作曲者的分工与经验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B36095-085C-417B-B739-089801E5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坂本龙一：电子音乐经验与管弦乐创作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0B81E0-0D6B-45B9-A0FF-BA6B5E8C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David Byrne：片头Main Title Theme等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566BD-2F28-4DF4-9B81-C71271D0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苏聪：中国音乐创作与影片配乐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3E8C02-7B7E-4110-847B-B20079A4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听到“中国感”，还要追问音乐如何构成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592CD2-6E0E-469C-8548-6E56B37A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406489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205C40-D6A8-4C82-BB9E-3ABDA576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创作背景：音乐怎样进入电影？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56FC88-880B-4167-8F6F-A3E02686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坂本龙一先作为演员参与拍摄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4FD6F9-DBD2-4942-8432-E3B0D745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访谈回忆：短期写作，并寻找中国乐手录音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F97E3-CB47-4E77-B2D6-F61DCC59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真实演奏、电子音色与管弦乐可以共同存在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0AD2E-A875-491A-A042-B76F85E8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音乐最后还要经过电影剪辑与混音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A8BDA-E644-4BC7-99ED-1CD56F19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09389477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1D99E0AE-6206-4DE4-90DB-DC578EF23B37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Main Title Theme：先听，再看</a:t>
            </a:r>
          </a:p>
        </p:txBody>
      </p:sp>
      <p:pic>
        <p:nvPicPr>
          <p:cNvPr id="2" name="MEDIA_9">
            <a:extLst>
              <a:ext uri="{FF2B5EF4-FFF2-40B4-BE49-F238E27FC236}">
                <ns2:creationId id="{9350B688-9B8D-4A62-BE61-5FDB1B49A824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1"/>
            <p:extLst>
              <p:ext uri="{DAA4B4D4-5B9D-4661-A4F6-83A2F4AD3B91}">
                <p14:media r:embed="rIdOfficeMedia1"/>
              </p:ext>
            </p:extLst>
          </p:nvPr>
        </p:nvPicPr>
        <p:blipFill>
          <a:blip r:embed="R1e047c85635b4e7f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9FCC4835-BED5-4EA8-BF83-61DC9E170F9E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先留意重复的节奏与加入的声部</a:t>
            </a:r>
          </a:p>
        </p:txBody>
      </p:sp>
      <p:sp>
        <p:nvSpPr>
          <p:cNvPr id="4" name="">
            <a:extLst>
              <a:ext uri="{FF2B5EF4-FFF2-40B4-BE49-F238E27FC236}">
                <ns2:creationId id="{8D646EBD-F1CA-4F53-81A0-2BD2B87A306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宫殿画面出现后，你的联想改变了吗？</a:t>
            </a:r>
          </a:p>
        </p:txBody>
      </p:sp>
      <p:sp>
        <p:nvSpPr>
          <p:cNvPr id="5" name="">
            <a:extLst>
              <a:ext uri="{FF2B5EF4-FFF2-40B4-BE49-F238E27FC236}">
                <ns2:creationId id="{7A1400B2-11D5-4E13-80E0-B2869689CEA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">
            <a:extLst>
              <a:ext uri="{FF2B5EF4-FFF2-40B4-BE49-F238E27FC236}">
                <ns2:creationId id="{7F809BFC-D39D-4102-BCB6-FB1C5D424BEE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val="1617235931"/>
      </p:ext>
    </p:extLst>
  </p:cSld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473CE-F16B-4D27-ACB5-4EFC4BF5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“故宫音色”可以拆成哪些问题？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67EAB-781D-42EB-AB13-2E7D3BD9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音色：起音、滑动、持续音与颗粒感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BBB50-3E3F-49A5-B55F-85BE04FC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组织：旋律、节奏、织体与力度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84D8D3-E3E6-4BDF-B522-A7A14BC5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组合：中国乐器、管弦乐和电子制作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48564-EAFD-4603-951E-F10D039C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语境：宫殿画面与听众的文化经验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5A497C-4F32-41F8-BBAB-942CC40F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25110080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0C33E1D2-29EC-4E32-9F47-8E848B3BF88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Open the Door：一个可辨认的主题</a:t>
            </a:r>
          </a:p>
        </p:txBody>
      </p:sp>
      <p:pic>
        <p:nvPicPr>
          <p:cNvPr id="2" name="MEDIA_11">
            <a:extLst>
              <a:ext uri="{FF2B5EF4-FFF2-40B4-BE49-F238E27FC236}">
                <ns2:creationId id="{B9D0724C-291F-44AE-937B-548581B28F65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2"/>
            <p:extLst>
              <p:ext uri="{DAA4B4D4-5B9D-4661-A4F6-83A2F4AD3B91}">
                <p14:media r:embed="rIdOfficeMedia2"/>
              </p:ext>
            </p:extLst>
          </p:nvPr>
        </p:nvPicPr>
        <p:blipFill>
          <a:blip r:embed="R0a463ac4193a4842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14CAAD7C-6F62-4EAA-961E-1C4D2258EEC6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原声曲目：Open the Door　坂本龙一</a:t>
            </a:r>
          </a:p>
        </p:txBody>
      </p:sp>
      <p:sp>
        <p:nvSpPr>
          <p:cNvPr id="4" name="">
            <a:extLst>
              <a:ext uri="{FF2B5EF4-FFF2-40B4-BE49-F238E27FC236}">
                <ns2:creationId id="{4B0F5581-8841-4016-834D-83582DE62D14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先记住开头乐句，再看它怎样进入回忆</a:t>
            </a:r>
          </a:p>
        </p:txBody>
      </p:sp>
      <p:sp>
        <p:nvSpPr>
          <p:cNvPr id="5" name="">
            <a:extLst>
              <a:ext uri="{FF2B5EF4-FFF2-40B4-BE49-F238E27FC236}">
                <ns2:creationId id="{35852EA2-AE40-4C16-AE8B-0E36C2EFF37E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">
            <a:extLst>
              <a:ext uri="{FF2B5EF4-FFF2-40B4-BE49-F238E27FC236}">
                <ns2:creationId id="{57B351BC-DF11-41EA-A8B0-5FC30435FA5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val="1769050235"/>
      </p:ext>
    </p:extLst>
  </p:cSld>
  <p:timing>
    <p:tnLst>
      <p:par>
        <p:cTn id="1" dur="indefinite" restart="never" nodeType="tmRoot">
          <p:childTnLst>
            <p:audi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11FD0420-34DD-4086-A4B8-4A226639D2C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音乐怎样把成年与童年接起来？</a:t>
            </a:r>
          </a:p>
        </p:txBody>
      </p:sp>
      <p:pic>
        <p:nvPicPr>
          <p:cNvPr id="2" name="MEDIA_12">
            <a:extLst>
              <a:ext uri="{FF2B5EF4-FFF2-40B4-BE49-F238E27FC236}">
                <ns2:creationId id="{EDBC5771-0F52-476B-A407-5388E260D800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3"/>
            <p:extLst>
              <p:ext uri="{DAA4B4D4-5B9D-4661-A4F6-83A2F4AD3B91}">
                <p14:media r:embed="rIdOfficeMedia3"/>
              </p:ext>
            </p:extLst>
          </p:nvPr>
        </p:nvPicPr>
        <p:blipFill>
          <a:blip r:embed="Rd082b197db3a45e0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CD676C93-E6C9-4200-9251-A3A9560B99FB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先找画面的时间跳转</a:t>
            </a:r>
          </a:p>
        </p:txBody>
      </p:sp>
      <p:sp>
        <p:nvSpPr>
          <p:cNvPr id="4" name="">
            <a:extLst>
              <a:ext uri="{FF2B5EF4-FFF2-40B4-BE49-F238E27FC236}">
                <ns2:creationId id="{CD1A149A-4ADD-4804-8B09-5650D65A1576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再听声音何时改变、何时延续</a:t>
            </a:r>
          </a:p>
        </p:txBody>
      </p:sp>
      <p:sp>
        <p:nvSpPr>
          <p:cNvPr id="5" name="">
            <a:extLst>
              <a:ext uri="{FF2B5EF4-FFF2-40B4-BE49-F238E27FC236}">
                <ns2:creationId id="{74D3F8A6-06D6-4BA3-9993-53A62B504CDE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02_首次回忆转场</a:t>
            </a:r>
          </a:p>
        </p:txBody>
      </p:sp>
      <p:sp>
        <p:nvSpPr>
          <p:cNvPr id="6" name="">
            <a:extLst>
              <a:ext uri="{FF2B5EF4-FFF2-40B4-BE49-F238E27FC236}">
                <ns2:creationId id="{C314340E-D89A-473C-B0A1-2B184A989D3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val="1027049670"/>
      </p:ext>
    </p:extLst>
  </p:cSld>
  <p:timing>
    <p:tnLst>
      <p:par>
        <p:cTn id="1" dur="indefinite" restart="never" nodeType="tmRoot">
          <p:childTnLst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3E9282-DC13-45E8-9915-ABD1C282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主题重现：从曲名走向叙事线索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8107EE-6936-43D2-9870-1BCA9B6A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第一次：先建立可记忆的音乐材料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1E4B3-B818-4019-99DD-B38CC100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再出现：比较场景、节奏与音色的改变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89BCEC-5412-4DF9-842B-4BC7C0BF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人物处境改变，音乐联系带回先前记忆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6653-562E-44C2-84B0-EB0DD131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50160565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B4D7295E-792C-4C53-B64D-DA0E1B7E0E4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Where Is Armo?：先听行进感</a:t>
            </a:r>
          </a:p>
        </p:txBody>
      </p:sp>
      <p:pic>
        <p:nvPicPr>
          <p:cNvPr id="2" name="MEDIA_14">
            <a:extLst>
              <a:ext uri="{FF2B5EF4-FFF2-40B4-BE49-F238E27FC236}">
                <ns2:creationId id="{F18E9637-51C6-4DC2-97BB-EF14072F8C05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4"/>
            <p:extLst>
              <p:ext uri="{DAA4B4D4-5B9D-4661-A4F6-83A2F4AD3B91}">
                <p14:media r:embed="rIdOfficeMedia4"/>
              </p:ext>
            </p:extLst>
          </p:nvPr>
        </p:nvPicPr>
        <p:blipFill>
          <a:blip r:embed="Rbb66f7ba71ff427b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0E23DC0D-A7C0-4CC1-ADC9-1F920C01045A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原声曲目：Where Is Armo?　坂本龙一</a:t>
            </a:r>
          </a:p>
        </p:txBody>
      </p:sp>
      <p:sp>
        <p:nvSpPr>
          <p:cNvPr id="4" name="">
            <a:extLst>
              <a:ext uri="{FF2B5EF4-FFF2-40B4-BE49-F238E27FC236}">
                <ns2:creationId id="{0537D966-1D05-4BAF-9734-9FFB2FEEDCC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听底层的推进与上层旋律如何配合</a:t>
            </a:r>
          </a:p>
        </p:txBody>
      </p:sp>
      <p:sp>
        <p:nvSpPr>
          <p:cNvPr id="5" name="">
            <a:extLst>
              <a:ext uri="{FF2B5EF4-FFF2-40B4-BE49-F238E27FC236}">
                <ns2:creationId id="{62F5B121-1ED2-40A5-A0BE-27978AA546E6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">
            <a:extLst>
              <a:ext uri="{FF2B5EF4-FFF2-40B4-BE49-F238E27FC236}">
                <ns2:creationId id="{3E085208-C1C0-421A-AE1F-0C1CB263097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val="1010825247"/>
      </p:ext>
    </p:extLst>
  </p:cSld>
  <p:timing>
    <p:tnLst>
      <p:par>
        <p:cTn id="1" dur="indefinite" restart="never" nodeType="tmRoot">
          <p:childTnLst>
            <p:audi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08161A3A-8BD0-4CF9-A0B2-E0FCBB81C7A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追阿嬷：音乐怎样组织奔跑？</a:t>
            </a:r>
          </a:p>
        </p:txBody>
      </p:sp>
      <p:pic>
        <p:nvPicPr>
          <p:cNvPr id="2" name="MEDIA_15">
            <a:extLst>
              <a:ext uri="{FF2B5EF4-FFF2-40B4-BE49-F238E27FC236}">
                <ns2:creationId id="{DF568650-2A43-4D05-92CC-93F93BC724BD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5"/>
            <p:extLst>
              <p:ext uri="{DAA4B4D4-5B9D-4661-A4F6-83A2F4AD3B91}">
                <p14:media r:embed="rIdOfficeMedia5"/>
              </p:ext>
            </p:extLst>
          </p:nvPr>
        </p:nvPicPr>
        <p:blipFill>
          <a:blip r:embed="Rb9a5004a65024e25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1A46EF48-F0B9-4995-B967-3D0396E1B2D4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动作：奔跑、呼喊与追随</a:t>
            </a:r>
          </a:p>
        </p:txBody>
      </p:sp>
      <p:sp>
        <p:nvSpPr>
          <p:cNvPr id="4" name="">
            <a:extLst>
              <a:ext uri="{FF2B5EF4-FFF2-40B4-BE49-F238E27FC236}">
                <ns2:creationId id="{C9B82E63-E766-4C5C-9499-EF258833F96F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声音：旋律推进、台词和停顿</a:t>
            </a:r>
          </a:p>
        </p:txBody>
      </p:sp>
      <p:sp>
        <p:nvSpPr>
          <p:cNvPr id="5" name="">
            <a:extLst>
              <a:ext uri="{FF2B5EF4-FFF2-40B4-BE49-F238E27FC236}">
                <ns2:creationId id="{95B6EFCD-DE32-42E1-9C6E-37650CEE757B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05_追阿嬷</a:t>
            </a:r>
          </a:p>
        </p:txBody>
      </p:sp>
      <p:sp>
        <p:nvSpPr>
          <p:cNvPr id="6" name="">
            <a:extLst>
              <a:ext uri="{FF2B5EF4-FFF2-40B4-BE49-F238E27FC236}">
                <ns2:creationId id="{2208BD48-5EC2-4AA6-BB5B-3B5C7055D6BF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  <p:extLst>
      <p:ext uri="{BB962C8B-B14F-4D97-AF65-F5344CB8AC3E}">
        <p14:creationId val="955280011"/>
      </p:ext>
    </p:extLst>
  </p:cSld>
  <p:timing>
    <p:tnLst>
      <p:par>
        <p:cTn id="1" dur="indefinite" restart="never" nodeType="tmRoot">
          <p:childTnLst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9D1EBE4C-6401-424F-93D1-D223DB4AF3F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追婉容：相似的行动，改变了的处境</a:t>
            </a:r>
          </a:p>
        </p:txBody>
      </p:sp>
      <p:pic>
        <p:nvPicPr>
          <p:cNvPr id="2" name="MEDIA_16">
            <a:extLst>
              <a:ext uri="{FF2B5EF4-FFF2-40B4-BE49-F238E27FC236}">
                <ns2:creationId id="{12D55F13-9D58-473E-A466-290EF6B2A466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6"/>
            <p:extLst>
              <p:ext uri="{DAA4B4D4-5B9D-4661-A4F6-83A2F4AD3B91}">
                <p14:media r:embed="rIdOfficeMedia6"/>
              </p:ext>
            </p:extLst>
          </p:nvPr>
        </p:nvPicPr>
        <p:blipFill>
          <a:blip r:embed="R16cf93e0553c46ec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F0591763-3896-4EFC-B40D-0CA501842B64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又一次追逐，又一次要求开门</a:t>
            </a:r>
          </a:p>
        </p:txBody>
      </p:sp>
      <p:sp>
        <p:nvSpPr>
          <p:cNvPr id="4" name="">
            <a:extLst>
              <a:ext uri="{FF2B5EF4-FFF2-40B4-BE49-F238E27FC236}">
                <ns2:creationId id="{EAD54540-66EF-461A-B3C8-5ED841919793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比较音乐材料，也比较声音与动作的关系</a:t>
            </a:r>
          </a:p>
        </p:txBody>
      </p:sp>
      <p:sp>
        <p:nvSpPr>
          <p:cNvPr id="5" name="">
            <a:extLst>
              <a:ext uri="{FF2B5EF4-FFF2-40B4-BE49-F238E27FC236}">
                <ns2:creationId id="{03CE4DFF-107D-4EB7-9FE4-30015D43C30B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10_追婉容</a:t>
            </a:r>
          </a:p>
        </p:txBody>
      </p:sp>
      <p:sp>
        <p:nvSpPr>
          <p:cNvPr id="6" name="">
            <a:extLst>
              <a:ext uri="{FF2B5EF4-FFF2-40B4-BE49-F238E27FC236}">
                <ns2:creationId id="{C2C6BC69-FD88-4CC2-A36D-44C78D640ED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  <p:extLst>
      <p:ext uri="{BB962C8B-B14F-4D97-AF65-F5344CB8AC3E}">
        <p14:creationId val="774090770"/>
      </p:ext>
    </p:extLst>
  </p:cSld>
  <p:timing>
    <p:tnLst>
      <p:par>
        <p:cTn id="1" dur="indefinite" restart="never" nodeType="tmRoot">
          <p:childTnLst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5C2F0D-3A92-48D1-BCD0-28FD2B85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比较的重点：音乐在哪里加强了动作？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B530EA-3E6B-442C-9A20-E35FAFB0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节奏：与奔跑同向推进，还是保持自己的速度？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8EABB-962B-47DF-B126-246E5358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情绪：与人物感受相近，还是形成距离？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48D787-B594-4AB4-A0A4-DC9DE2D8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剪辑：连续、停顿与重现怎样组织段落？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AE68D6-AA35-46C3-9771-CC1C7755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58776971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B3C8A459-DA77-4104-8669-92540F1BC65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Rain：先听音乐自身的表达</a:t>
            </a:r>
          </a:p>
        </p:txBody>
      </p:sp>
      <p:pic>
        <p:nvPicPr>
          <p:cNvPr id="2" name="MEDIA_18">
            <a:extLst>
              <a:ext uri="{FF2B5EF4-FFF2-40B4-BE49-F238E27FC236}">
                <ns2:creationId id="{BB85D37C-885A-46F9-9A9D-F3C8CE7589F6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7"/>
            <p:extLst>
              <p:ext uri="{DAA4B4D4-5B9D-4661-A4F6-83A2F4AD3B91}">
                <p14:media r:embed="rIdOfficeMedia7"/>
              </p:ext>
            </p:extLst>
          </p:nvPr>
        </p:nvPicPr>
        <p:blipFill>
          <a:blip r:embed="R55596a356e474421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A1C07E7E-2DF0-4A2C-9FBF-DC2A8C054E1D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Rain (I Want a Divorce)　坂本龙一</a:t>
            </a:r>
          </a:p>
        </p:txBody>
      </p:sp>
      <p:sp>
        <p:nvSpPr>
          <p:cNvPr id="4" name="">
            <a:extLst>
              <a:ext uri="{FF2B5EF4-FFF2-40B4-BE49-F238E27FC236}">
                <ns2:creationId id="{69520EFD-63B8-4BFF-858E-3CB2F152C40B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暂时离开画面，听旋律、力度与空间感</a:t>
            </a:r>
          </a:p>
        </p:txBody>
      </p:sp>
      <p:sp>
        <p:nvSpPr>
          <p:cNvPr id="5" name="">
            <a:extLst>
              <a:ext uri="{FF2B5EF4-FFF2-40B4-BE49-F238E27FC236}">
                <ns2:creationId id="{80618405-8D01-4B7E-93F8-B79080B125A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">
            <a:extLst>
              <a:ext uri="{FF2B5EF4-FFF2-40B4-BE49-F238E27FC236}">
                <ns2:creationId id="{4928AF37-1A74-4245-A913-A85511ED506B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  <p:extLst>
      <p:ext uri="{BB962C8B-B14F-4D97-AF65-F5344CB8AC3E}">
        <p14:creationId val="601536185"/>
      </p:ext>
    </p:extLst>
  </p:cSld>
  <p:timing>
    <p:tnLst>
      <p:par>
        <p:cTn id="1" dur="indefinite" restart="never" nodeType="tmRoot">
          <p:childTnLst>
            <p:audio>
              <p:cMediaNode vol="80000">
                <p:cTn id="8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1E262401-9FBA-4E0D-99BD-E73E670A82F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文绣离开：雨声、动作与配乐</a:t>
            </a:r>
          </a:p>
        </p:txBody>
      </p:sp>
      <p:pic>
        <p:nvPicPr>
          <p:cNvPr id="2" name="MEDIA_19">
            <a:extLst>
              <a:ext uri="{FF2B5EF4-FFF2-40B4-BE49-F238E27FC236}">
                <ns2:creationId id="{514F0522-F690-40B4-A9FE-61D2982F447A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8"/>
            <p:extLst>
              <p:ext uri="{DAA4B4D4-5B9D-4661-A4F6-83A2F4AD3B91}">
                <p14:media r:embed="rIdOfficeMedia8"/>
              </p:ext>
            </p:extLst>
          </p:nvPr>
        </p:nvPicPr>
        <p:blipFill>
          <a:blip r:embed="Rafd4aed2bf454c44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3C2F14A3-0879-4687-B738-6C3F10BEDB56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离婚的选择，通过动作落实</a:t>
            </a:r>
          </a:p>
        </p:txBody>
      </p:sp>
      <p:sp>
        <p:nvSpPr>
          <p:cNvPr id="4" name="">
            <a:extLst>
              <a:ext uri="{FF2B5EF4-FFF2-40B4-BE49-F238E27FC236}">
                <ns2:creationId id="{AD73C051-5E6A-4204-8BF8-AD45F1749A4A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声音怎样使“离开”获得不同意味？</a:t>
            </a:r>
          </a:p>
        </p:txBody>
      </p:sp>
      <p:sp>
        <p:nvSpPr>
          <p:cNvPr id="5" name="">
            <a:extLst>
              <a:ext uri="{FF2B5EF4-FFF2-40B4-BE49-F238E27FC236}">
                <ns2:creationId id="{60D0B6D0-2575-41A8-AAA4-A6CD7291CC15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09_雨中离开</a:t>
            </a:r>
          </a:p>
        </p:txBody>
      </p:sp>
      <p:sp>
        <p:nvSpPr>
          <p:cNvPr id="6" name="">
            <a:extLst>
              <a:ext uri="{FF2B5EF4-FFF2-40B4-BE49-F238E27FC236}">
                <ns2:creationId id="{E4A112E7-C51C-4619-918A-7749C920CF48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  <p:extLst>
      <p:ext uri="{BB962C8B-B14F-4D97-AF65-F5344CB8AC3E}">
        <p14:creationId val="1918693378"/>
      </p:ext>
    </p:extLst>
  </p:cSld>
  <p:timing>
    <p:tnLst>
      <p:par>
        <p:cTn id="1" dur="indefinite" restart="never" nodeType="tmRoot">
          <p:childTnLst>
            <p:video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">
            <a:extLst>
              <a:ext uri="{FF2B5EF4-FFF2-40B4-BE49-F238E27FC236}">
                <ns2:creationId id="{DD645805-9A3B-43AD-BD0A-C4B0CAFE272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主题与变奏：同一材料的不同面貌</a:t>
            </a:r>
          </a:p>
        </p:txBody>
      </p:sp>
      <p:sp>
        <p:nvSpPr>
          <p:cNvPr id="2" name="">
            <a:extLst>
              <a:ext uri="{FF2B5EF4-FFF2-40B4-BE49-F238E27FC236}">
                <ns2:creationId id="{52AB28F3-4CA9-4599-98BD-47DA65FCE28A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A　Theme Variation 2　30秒</a:t>
            </a:r>
          </a:p>
        </p:txBody>
      </p:sp>
      <p:sp>
        <p:nvSpPr>
          <p:cNvPr id="3" name="">
            <a:extLst>
              <a:ext uri="{FF2B5EF4-FFF2-40B4-BE49-F238E27FC236}">
                <ns2:creationId id="{88ECF3F0-E87A-40A7-8BE0-891EAFEAFA83}"/>
              </a:ext>
            </a:extLst>
          </p:cNvPr>
          <p:cNvSpPr>
            <a:spLocks noGrp="1"/>
          </p:cNvSpPr>
          <p:nvPr/>
        </p:nvSpPr>
        <p:spPr>
          <a:xfrm>
            <a:off x="571500" y="19431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B　The Last Emperor (Theme)　35秒</a:t>
            </a:r>
          </a:p>
        </p:txBody>
      </p:sp>
      <p:sp>
        <p:nvSpPr>
          <p:cNvPr id="4" name="">
            <a:extLst>
              <a:ext uri="{FF2B5EF4-FFF2-40B4-BE49-F238E27FC236}">
                <ns2:creationId id="{87091688-57DB-4153-8687-C532535B9CA8}"/>
              </a:ext>
            </a:extLst>
          </p:cNvPr>
          <p:cNvSpPr>
            <a:spLocks noGrp="1"/>
          </p:cNvSpPr>
          <p:nvPr/>
        </p:nvSpPr>
        <p:spPr>
          <a:xfrm>
            <a:off x="571500" y="25527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先找旋律联系，再比较编配与音色</a:t>
            </a:r>
          </a:p>
        </p:txBody>
      </p:sp>
      <p:pic>
        <p:nvPicPr>
          <p:cNvPr id="5" name="MEDIA_20">
            <a:extLst>
              <a:ext uri="{FF2B5EF4-FFF2-40B4-BE49-F238E27FC236}">
                <ns2:creationId id="{8FB4171E-3743-4D1D-A23A-50831C59CDDE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9"/>
            <p:extLst>
              <p:ext uri="{DAA4B4D4-5B9D-4661-A4F6-83A2F4AD3B91}">
                <p14:media r:embed="rIdOfficeMedia9"/>
              </p:ext>
            </p:extLst>
          </p:nvPr>
        </p:nvPicPr>
        <p:blipFill>
          <a:blip r:embed="Re6bb3ddc56874f25"/>
          <a:stretch/>
        </p:blipFill>
        <p:spPr>
          <a:xfrm>
            <a:off x="762000" y="3524250"/>
            <a:ext cx="2190750" cy="2190750"/>
          </a:xfrm>
          <a:prstGeom prst="rect">
            <a:avLst/>
          </a:prstGeom>
        </p:spPr>
      </p:pic>
      <p:pic>
        <p:nvPicPr>
          <p:cNvPr id="6" name="MEDIA_20_b">
            <a:extLst>
              <a:ext uri="{FF2B5EF4-FFF2-40B4-BE49-F238E27FC236}">
                <ns2:creationId id="{C9E181C2-CC10-4312-B909-903ABB72AAED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10"/>
            <p:extLst>
              <p:ext uri="{DAA4B4D4-5B9D-4661-A4F6-83A2F4AD3B91}">
                <p14:media r:embed="rIdOfficeMedia10"/>
              </p:ext>
            </p:extLst>
          </p:nvPr>
        </p:nvPicPr>
        <p:blipFill>
          <a:blip r:embed="R72680a8f18874ba7"/>
          <a:stretch/>
        </p:blipFill>
        <p:spPr>
          <a:xfrm>
            <a:off x="6477000" y="3524250"/>
            <a:ext cx="2190750" cy="2190750"/>
          </a:xfrm>
          <a:prstGeom prst="rect">
            <a:avLst/>
          </a:prstGeom>
        </p:spPr>
      </p:pic>
      <p:sp>
        <p:nvSpPr>
          <p:cNvPr id="7" name="">
            <a:extLst>
              <a:ext uri="{FF2B5EF4-FFF2-40B4-BE49-F238E27FC236}">
                <ns2:creationId id="{BA3211ED-86C3-4F6F-9414-460E5B715E43}"/>
              </a:ext>
            </a:extLst>
          </p:cNvPr>
          <p:cNvSpPr>
            <a:spLocks noGrp="1"/>
          </p:cNvSpPr>
          <p:nvPr/>
        </p:nvSpPr>
        <p:spPr>
          <a:xfrm>
            <a:off x="3238500" y="3905250"/>
            <a:ext cx="2952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A　Theme Variation 2</a:t>
            </a:r>
          </a:p>
        </p:txBody>
      </p:sp>
      <p:sp>
        <p:nvSpPr>
          <p:cNvPr id="8" name="">
            <a:extLst>
              <a:ext uri="{FF2B5EF4-FFF2-40B4-BE49-F238E27FC236}">
                <ns2:creationId id="{6B2C6988-1ADF-4220-A4CF-42ECA80D761B}"/>
              </a:ext>
            </a:extLst>
          </p:cNvPr>
          <p:cNvSpPr>
            <a:spLocks noGrp="1"/>
          </p:cNvSpPr>
          <p:nvPr/>
        </p:nvSpPr>
        <p:spPr>
          <a:xfrm>
            <a:off x="8953500" y="3905250"/>
            <a:ext cx="2571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B　Theme</a:t>
            </a:r>
          </a:p>
        </p:txBody>
      </p:sp>
      <p:sp>
        <p:nvSpPr>
          <p:cNvPr id="9" name="">
            <a:extLst>
              <a:ext uri="{FF2B5EF4-FFF2-40B4-BE49-F238E27FC236}">
                <ns2:creationId id="{0EAD98A4-EEEE-431E-9682-2CD013E155B5}"/>
              </a:ext>
            </a:extLst>
          </p:cNvPr>
          <p:cNvSpPr>
            <a:spLocks noGrp="1"/>
          </p:cNvSpPr>
          <p:nvPr/>
        </p:nvSpPr>
        <p:spPr>
          <a:xfrm>
            <a:off x="571500" y="6000750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点击封面播放对应原声摘录</a:t>
            </a:r>
          </a:p>
        </p:txBody>
      </p:sp>
      <p:sp>
        <p:nvSpPr>
          <p:cNvPr id="10" name="">
            <a:extLst>
              <a:ext uri="{FF2B5EF4-FFF2-40B4-BE49-F238E27FC236}">
                <ns2:creationId id="{9D144C77-18A8-422B-982E-3F6A20B843AF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</p:spTree>
    <p:extLst>
      <p:ext uri="{BB962C8B-B14F-4D97-AF65-F5344CB8AC3E}">
        <p14:creationId val="1907576639"/>
      </p:ext>
    </p:extLst>
  </p:cSld>
  <p:timing>
    <p:tnLst>
      <p:par>
        <p:cTn id="1" dur="indefinite" restart="never" nodeType="tmRoot">
          <p:childTnLst>
            <p:audi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audio>
            <p:audi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7A3A75A4-0EC8-41E2-86C6-9CCAA65D438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First Coronation：带着记忆再听一次</a:t>
            </a:r>
          </a:p>
        </p:txBody>
      </p:sp>
      <p:pic>
        <p:nvPicPr>
          <p:cNvPr id="2" name="MEDIA_21">
            <a:extLst>
              <a:ext uri="{FF2B5EF4-FFF2-40B4-BE49-F238E27FC236}">
                <ns2:creationId id="{E7948252-E70F-4749-8FF6-964AA61C4905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11"/>
            <p:extLst>
              <p:ext uri="{DAA4B4D4-5B9D-4661-A4F6-83A2F4AD3B91}">
                <p14:media r:embed="rIdOfficeMedia11"/>
              </p:ext>
            </p:extLst>
          </p:nvPr>
        </p:nvPicPr>
        <p:blipFill>
          <a:blip r:embed="R63d70071be8547d9"/>
          <a:stretch/>
        </p:blipFill>
        <p:spPr>
          <a:xfrm>
            <a:off x="571500" y="1726406"/>
            <a:ext cx="6667500" cy="2833688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56C370FF-08F5-4E37-9D62-352048E766C9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First Coronation　坂本龙一</a:t>
            </a:r>
          </a:p>
        </p:txBody>
      </p:sp>
      <p:sp>
        <p:nvSpPr>
          <p:cNvPr id="4" name="">
            <a:extLst>
              <a:ext uri="{FF2B5EF4-FFF2-40B4-BE49-F238E27FC236}">
                <ns2:creationId id="{BEC0BA40-8652-432B-A701-A470CF908126}"/>
              </a:ext>
            </a:extLst>
          </p:cNvPr>
          <p:cNvSpPr>
            <a:spLocks noGrp="1"/>
          </p:cNvSpPr>
          <p:nvPr/>
        </p:nvSpPr>
        <p:spPr>
          <a:xfrm>
            <a:off x="7715250" y="3000375"/>
            <a:ext cx="3810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先听35秒，再看晚年重返宫殿</a:t>
            </a:r>
          </a:p>
        </p:txBody>
      </p:sp>
      <p:sp>
        <p:nvSpPr>
          <p:cNvPr id="5" name="">
            <a:extLst>
              <a:ext uri="{FF2B5EF4-FFF2-40B4-BE49-F238E27FC236}">
                <ns2:creationId id="{5D4EAC2E-9FAD-437D-AD88-2C7A9BEB523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点击画面播放原声摘录</a:t>
            </a:r>
          </a:p>
        </p:txBody>
      </p:sp>
      <p:sp>
        <p:nvSpPr>
          <p:cNvPr id="6" name="">
            <a:extLst>
              <a:ext uri="{FF2B5EF4-FFF2-40B4-BE49-F238E27FC236}">
                <ns2:creationId id="{91B87103-49E5-4AE8-A23E-A56AA9AC4733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  <p:extLst>
      <p:ext uri="{BB962C8B-B14F-4D97-AF65-F5344CB8AC3E}">
        <p14:creationId val="1120569729"/>
      </p:ext>
    </p:extLst>
  </p:cSld>
  <p:timing>
    <p:tnLst>
      <p:par>
        <p:cTn id="1" dur="indefinite" restart="never" nodeType="tmRoot">
          <p:childTnLst>
            <p:audi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778461B6-C278-4538-AE2C-3F191211FCC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重返龙椅：音乐与身份的记忆</a:t>
            </a:r>
          </a:p>
        </p:txBody>
      </p:sp>
      <p:pic>
        <p:nvPicPr>
          <p:cNvPr id="2" name="MEDIA_22">
            <a:extLst>
              <a:ext uri="{FF2B5EF4-FFF2-40B4-BE49-F238E27FC236}">
                <ns2:creationId id="{C0DA3647-9F0D-4DD0-9003-6A01FBB8F4F2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12"/>
            <p:extLst>
              <p:ext uri="{DAA4B4D4-5B9D-4661-A4F6-83A2F4AD3B91}">
                <p14:media r:embed="rIdOfficeMedia12"/>
              </p:ext>
            </p:extLst>
          </p:nvPr>
        </p:nvPicPr>
        <p:blipFill>
          <a:blip r:embed="R1b9f3dbdf4674f02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7AE5030F-F6B8-4730-B570-942239F23A62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昔日皇帝，向孩子说明自己的过去</a:t>
            </a:r>
          </a:p>
        </p:txBody>
      </p:sp>
      <p:sp>
        <p:nvSpPr>
          <p:cNvPr id="4" name="">
            <a:extLst>
              <a:ext uri="{FF2B5EF4-FFF2-40B4-BE49-F238E27FC236}">
                <ns2:creationId id="{E2C3112A-C889-4116-B24B-45BF933FA31C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宏大空间中的小物件，把记忆带回来</a:t>
            </a:r>
          </a:p>
        </p:txBody>
      </p:sp>
      <p:sp>
        <p:nvSpPr>
          <p:cNvPr id="5" name="">
            <a:extLst>
              <a:ext uri="{FF2B5EF4-FFF2-40B4-BE49-F238E27FC236}">
                <ns2:creationId id="{6F644964-803B-4278-A50C-B7A1FF8AE890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13_龙椅与蝈蝈</a:t>
            </a:r>
          </a:p>
        </p:txBody>
      </p:sp>
      <p:sp>
        <p:nvSpPr>
          <p:cNvPr id="6" name="">
            <a:extLst>
              <a:ext uri="{FF2B5EF4-FFF2-40B4-BE49-F238E27FC236}">
                <ns2:creationId id="{E4B2C562-6BE0-4BC0-9D6F-A320CF9B92C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  <p:extLst>
      <p:ext uri="{BB962C8B-B14F-4D97-AF65-F5344CB8AC3E}">
        <p14:creationId val="1441547212"/>
      </p:ext>
    </p:extLst>
  </p:cSld>
  <p:timing>
    <p:tnLst>
      <p:par>
        <p:cTn id="1" dur="indefinite" restart="never" nodeType="tmRoot">
          <p:childTnLst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40C30-0627-4F58-B14B-40B7D170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音乐的作用，放回整个声音结构里看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942A7-1323-44FC-ABEC-B8BAA699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有源／无源：音乐与故事空间的关系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94E37-0186-4B9A-8A91-7BE430C6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过渡与重现：连接镜头、时间和记忆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CE09C-359C-4D9C-8EEF-A7567AB1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静默：声音停顿，把注意力交给另一层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1E9276-2DBA-444D-A49F-0B416892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042870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F1003-B084-41CF-8A6C-87D55E8D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我们的评价：音乐把史诗带回个人经验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2E325-B06C-4132-A088-9FC4D78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主题联系，让相隔很远的场景彼此呼应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FCAC1-01BC-422F-AE2B-7FE7445E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编配与声画关系，使相似行动呈现不同意味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4DE43-5BF7-4F47-B6B3-B947D4C0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音乐带来同情，也值得追问这种同情的方向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F98B3-ACE9-438F-97BA-9DA6853A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670519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F3E0E-AB05-4679-91BD-C8B0CF73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讨论：你会选择哪一种听法？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2B34B-644F-409D-B33E-5FDDCC48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选一个片段，说出一处具体声音变化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6E29B2-6F3B-484C-8A6B-22492469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它加强了画面，还是让你产生另一层理解？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E2956-8539-4A34-AFC3-9F62092C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如果去掉音乐，你对人物的判断会变吗？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B54102-8FEA-42FC-A834-ACB40E86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67368056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C9F6F-E248-4A9D-9830-284ED374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参考资料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4998E-28C5-46BA-9925-7E148DAE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影片与数据：Criterion、奥斯卡官方、Box Office Mojo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EE44B3-F452-4969-8EAF-FB4CAC31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创作背景：坂本龙一访谈、摄影师大师课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F59D2D-653B-49FC-8094-A071831B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评论：Ebert、Thomson、Kempley、豆瓣、配乐专栏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7C133-93CF-40BD-9912-8DF3DA3F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课程概念：讲义第三部分25—39、55—57页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FCCB1-01B7-48BE-B573-FF1BAE46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18000242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8C1D1-A580-4A4B-94B8-345FAFA3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答疑与回放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2EAD1-E1A5-4585-8505-2993DE7D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如何确认两段音乐材料相同或相近？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D5607-222E-4A3E-A590-1400625B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怎样区分乐器音色与电子制作？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3DE63-7C19-41F7-86CE-60925D83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哪些段落连接了不同的时间或空间？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410C1-E5B2-4CCD-A958-A40DB65C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影片怎样表现人物，又怎样引导评价？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9DB98-7163-4E07-9CF3-223EED25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10834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2026-10-19T09:22:30.3770000Z</dcterms:created>
  <dcterms:modified xsi:type="dcterms:W3CDTF">2026-10-19T09:22:30.3770000Z</dcterms:modified>
</coreProperties>
</file>